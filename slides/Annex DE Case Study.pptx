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answer, then the route. This is a production-style build: raw CSVs and workbooks are cleaned and masked in Python, loaded to BigQuery, checked by 48 automated tests, modelled in SQL, and shown in a Looker Studio dashboard. The deck follows the brief in order: profiling and cleaning, features, pipeline design, data quality, portfolio health, credit versus customer satisfaction, and data gaps. All figures are from the December 2025 snapshot unless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profiling result from data_profiling.py and the cleaning log. The largest problem is that the demographic sheets carry #N/A in the Loan Id column on most rows (34,908 gender rows, 43,568 birth-date rows, 10,954 income rows), so those rows cannot be tied to a loan and are dropped. Nothing is imputed. Flags are added beside the source values and never overwrite them. The MAX_PAYMENT_DATE problem becomes the real anomaly in the quality framework on slide 6. Every step above is counted in outputs/cleaning_log.csv.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steps run in order from scripts/run_pipeline.py: upload, clean, quality gate, features, marts, verify, analysis. Python handles the messy parsing; SQL handles features and metrics so analysts can read the logic. The masking key lives only in Secret Manager. The quality gate sits before the marts so bad data never reaches the dashboard, and the previous marts keep serving if a run is stopped. The simple stack is deliberate: three source files do not justify Airflow or dbt, and the growth path to both is documented in pipeline_design/architecture.md.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 band is calculated at each snapshot, not once, so a customer moves between bands over time. The brief’s bands 46-55 and 55+ overlap; age 55 stays in 46-55, and under 18, over 120 or missing is Unknown. Income is Received divided by Duration because Duration is a statement window (mostly 6 or 12 months), and the brief’s literal sum is kept as avg_monthly_income_sum_all. The risk category is one CASE expression in sql/02_features/loan_snapshot_features.sql: seven rules, mapped to Not rated, Critical, High, Medium and Low. MAX_PAYMENT_DATE is excluded from features because it is stamped at extract time and leaks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Retries apply only to crashes, such as a network or quota error. A critical data quality failure is never retried, because retrying cannot fix bad data. The five staging tables load as separate jobs, so a failure between them can leave some tables new and others old; the run then reports a failure, the marts are not rebuilt, and the next run repairs it because every load replaces the whole table. Step outcomes are recorded in logs/pipeline_runs.csv.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has seven check families, 48 checks in all: 36 in SQL, 5 schema-contract checks that compare INFORMATION_SCHEMA with the contracts in sql/01_staging, and 7 personal-data scans. Results go to abc_staging.dq_results and outputs/dq_results.csv. Critical failures exit with code 2 and stop the run before the marts are built. The anomaly is real: 31.45% of rows carry a MAX_PAYMENT_DATE later than the snapshot date. Because it was caught as a warning rather than a critical failure, the load continues, and the column is excluded from features and ML. The log lines on the slide are verbatim from run 48e9868e; the 48-check run adds the schema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metrics: delinquency (8-90 days past due), loss, first payment default, collection and retention. The dashboard adds a sixth, seriously late (31-90 days), at 11.3% in December, as a drill-down of delinquency. Read-outs: delinquency 17.3, 19.4, 17.6, 18.0, 17.6 percent; loss 23.4, 26.3, 26.6, 27.3, 26.3; first payment default 7.2, 6.8, 6.1, 5.7, 5.8; collection 94.6, 93.5, 93.1, 93.6, 94.2; retention 93.6, 94.3, 95.4, 95.8 from March. Definitions: a loan is live if it is financed and not Paid Off or Returned. A loan counts as lost when it is live and written off or 91+ days past due, and the loss rate divides lost loans by all financed loans. Performing is live and not lost. Collection is total paid over total due today on performing loans. Retention is the share of loans that were Active, Inactive or PAR 7 at the previous snapshot and are neither returned nor lost now. Why the lines move: newer cohorts start healthier, and new losses fell from 9.1% to 5.5% of the prior book per quarter. The axis starts at zero on purpose, so the lines show how little delinquency moved. The full explanation per line is in outputs/charts_explained.md and on dashboard page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use only loans sold since 1 January 2025, because age and income exist only for loans sold from late 2024: income coverage is about 0% for sales before 2024Q4 and 85-88% for 2025 sales. Rates are ratios of sums, so small groups are not over-weighted. Below 5,000 at 24.7% against a 17.3% average is the most striking single gap, but after correcting for 13 segments compared (Bonferroni) it is not significant on its own (adjusted p about 0.13); the trend across income bands is, with a Cochran-Armitage test p below 0.0001. Orange bars mark the highest group in each chart. This is the same data as dashboard page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customer counts once, at their latest survey response, on financed loans only. NPS is the share scoring 9-10 minus the share scoring 0-6, with a bootstrap confidence interval. The pattern is consistent: the further behind a customer is, the lower the score, and customers who struggled to reach customer care score about 3 points lower (NPS -47 against +28). That is the lever the recommendation targets: contact in days 1-7, before a missed payment becomes a long arrears case. Caveats: this is an association, not proof of cause, and among late customers those reporting difficulty were not more likely to end up Critical (n=114, inconclusive), which is why the recommendation is a test against a control group, not a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gap is identity: with a working Loan Id in the demographic sheets and a customer id, coverage of age and income would rise well above the current 50% and people with several loans could be linked. Payment-level history and write-off dates would replace the proxies used today, such as treating 91+ days past due as loss. The three improvements are ordered by effect: stable keys first, then dated history, then a data contract so the defects profiled on slide 2 are caught at the source instead of in the pipeline. The machine learning phase is not built yet: the target is a loan reaching 91+ days or Critical at the next snapshot, MAX_PAYMENT_DATE stays excluded, and the split is by time because the data is a panel of snapshots.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99161"/>
            <a:ext cx="10566400" cy="391160"/>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595121"/>
            <a:ext cx="10566400" cy="445007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99161"/>
            <a:ext cx="10566400" cy="391160"/>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595121"/>
            <a:ext cx="10566400" cy="445007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618490"/>
            <a:ext cx="54025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5E"/>
                </a:solidFill>
                <a:latin typeface="IBM Plex Sans" pitchFamily="34" charset="0"/>
                <a:ea typeface="IBM Plex Sans" pitchFamily="34" charset="-122"/>
                <a:cs typeface="IBM Plex Sans" pitchFamily="34" charset="-120"/>
              </a:rPr>
              <a:t>ANNEX TECHNOLOGIES · DATA ENGINEER CASE STUDY</a:t>
            </a:r>
            <a:endParaRPr lang="en-US" sz="1200" dirty="0"/>
          </a:p>
        </p:txBody>
      </p:sp>
      <p:sp>
        <p:nvSpPr>
          <p:cNvPr id="3" name="Text 1"/>
          <p:cNvSpPr/>
          <p:nvPr/>
        </p:nvSpPr>
        <p:spPr>
          <a:xfrm>
            <a:off x="10376662" y="609600"/>
            <a:ext cx="1002538" cy="25654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EDEBE4"/>
                </a:solidFill>
                <a:latin typeface="IBM Plex Sans" pitchFamily="34" charset="0"/>
                <a:ea typeface="IBM Plex Sans" pitchFamily="34" charset="-122"/>
                <a:cs typeface="IBM Plex Sans" pitchFamily="34" charset="-120"/>
              </a:rPr>
              <a:t>Ryan Giggs</a:t>
            </a:r>
            <a:endParaRPr lang="en-US" sz="1300" dirty="0"/>
          </a:p>
        </p:txBody>
      </p:sp>
      <p:sp>
        <p:nvSpPr>
          <p:cNvPr id="4" name="Text 2"/>
          <p:cNvSpPr/>
          <p:nvPr>
            <p:ph type="title"/>
          </p:nvPr>
        </p:nvSpPr>
        <p:spPr>
          <a:xfrm>
            <a:off x="812800" y="2220595"/>
            <a:ext cx="915670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DEBE4"/>
                </a:solidFill>
                <a:latin typeface="IBM Plex Sans" pitchFamily="34" charset="0"/>
                <a:ea typeface="IBM Plex Sans" pitchFamily="34" charset="-122"/>
                <a:cs typeface="IBM Plex Sans" pitchFamily="34" charset="-120"/>
              </a:rPr>
              <a:t>ABC Phones installment credit portfolio</a:t>
            </a:r>
            <a:endParaRPr lang="en-US" sz="3600" dirty="0"/>
          </a:p>
        </p:txBody>
      </p:sp>
      <p:sp>
        <p:nvSpPr>
          <p:cNvPr id="5" name="Text 3"/>
          <p:cNvSpPr/>
          <p:nvPr/>
        </p:nvSpPr>
        <p:spPr>
          <a:xfrm>
            <a:off x="812800" y="2926715"/>
            <a:ext cx="8502650"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9C3D8"/>
                </a:solidFill>
                <a:latin typeface="IBM Plex Sans" pitchFamily="34" charset="0"/>
                <a:ea typeface="IBM Plex Sans" pitchFamily="34" charset="-122"/>
                <a:cs typeface="IBM Plex Sans" pitchFamily="34" charset="-120"/>
              </a:rPr>
              <a:t>From raw files to a monitored pipeline and a dashboard, and what the data says about credit risk and customer satisfaction.</a:t>
            </a:r>
            <a:endParaRPr lang="en-US" sz="1600" dirty="0"/>
          </a:p>
        </p:txBody>
      </p:sp>
      <p:sp>
        <p:nvSpPr>
          <p:cNvPr id="6" name="Shape 4"/>
          <p:cNvSpPr/>
          <p:nvPr/>
        </p:nvSpPr>
        <p:spPr>
          <a:xfrm>
            <a:off x="815975" y="4858385"/>
            <a:ext cx="3380317" cy="1386840"/>
          </a:xfrm>
          <a:prstGeom prst="roundRect">
            <a:avLst>
              <a:gd name="adj" fmla="val 7097"/>
            </a:avLst>
          </a:prstGeom>
          <a:noFill/>
          <a:ln w="6350">
            <a:solidFill>
              <a:srgbClr val="3A4C75"/>
            </a:solidFill>
            <a:prstDash val="solid"/>
          </a:ln>
        </p:spPr>
      </p:sp>
      <p:sp>
        <p:nvSpPr>
          <p:cNvPr id="7" name="Text 5"/>
          <p:cNvSpPr/>
          <p:nvPr/>
        </p:nvSpPr>
        <p:spPr>
          <a:xfrm>
            <a:off x="1021080" y="5063490"/>
            <a:ext cx="3059210"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F0A35E"/>
                </a:solidFill>
                <a:latin typeface="IBM Plex Sans" pitchFamily="34" charset="0"/>
                <a:ea typeface="IBM Plex Sans" pitchFamily="34" charset="-122"/>
                <a:cs typeface="IBM Plex Sans" pitchFamily="34" charset="-120"/>
              </a:rPr>
              <a:t>71,456</a:t>
            </a:r>
            <a:endParaRPr lang="en-US" sz="3600" dirty="0"/>
          </a:p>
        </p:txBody>
      </p:sp>
      <p:sp>
        <p:nvSpPr>
          <p:cNvPr id="8" name="Text 6"/>
          <p:cNvSpPr/>
          <p:nvPr/>
        </p:nvSpPr>
        <p:spPr>
          <a:xfrm>
            <a:off x="1021080" y="5594350"/>
            <a:ext cx="305921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9C3D8"/>
                </a:solidFill>
                <a:latin typeface="IBM Plex Sans" pitchFamily="34" charset="0"/>
                <a:ea typeface="IBM Plex Sans" pitchFamily="34" charset="-122"/>
                <a:cs typeface="IBM Plex Sans" pitchFamily="34" charset="-120"/>
              </a:rPr>
              <a:t>loan records across 5 quarterly snapshots</a:t>
            </a:r>
            <a:endParaRPr lang="en-US" sz="1300" dirty="0"/>
          </a:p>
        </p:txBody>
      </p:sp>
      <p:sp>
        <p:nvSpPr>
          <p:cNvPr id="9" name="Shape 7"/>
          <p:cNvSpPr/>
          <p:nvPr/>
        </p:nvSpPr>
        <p:spPr>
          <a:xfrm>
            <a:off x="4405842" y="4858385"/>
            <a:ext cx="3380317" cy="1386840"/>
          </a:xfrm>
          <a:prstGeom prst="roundRect">
            <a:avLst>
              <a:gd name="adj" fmla="val 7097"/>
            </a:avLst>
          </a:prstGeom>
          <a:noFill/>
          <a:ln w="6350">
            <a:solidFill>
              <a:srgbClr val="3A4C75"/>
            </a:solidFill>
            <a:prstDash val="solid"/>
          </a:ln>
        </p:spPr>
      </p:sp>
      <p:sp>
        <p:nvSpPr>
          <p:cNvPr id="10" name="Text 8"/>
          <p:cNvSpPr/>
          <p:nvPr/>
        </p:nvSpPr>
        <p:spPr>
          <a:xfrm>
            <a:off x="4610946" y="5063490"/>
            <a:ext cx="3059210"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F0A35E"/>
                </a:solidFill>
                <a:latin typeface="IBM Plex Sans" pitchFamily="34" charset="0"/>
                <a:ea typeface="IBM Plex Sans" pitchFamily="34" charset="-122"/>
                <a:cs typeface="IBM Plex Sans" pitchFamily="34" charset="-120"/>
              </a:rPr>
              <a:t>19,565</a:t>
            </a:r>
            <a:endParaRPr lang="en-US" sz="3600" dirty="0"/>
          </a:p>
        </p:txBody>
      </p:sp>
      <p:sp>
        <p:nvSpPr>
          <p:cNvPr id="11" name="Text 9"/>
          <p:cNvSpPr/>
          <p:nvPr/>
        </p:nvSpPr>
        <p:spPr>
          <a:xfrm>
            <a:off x="4610946" y="5594350"/>
            <a:ext cx="305921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9C3D8"/>
                </a:solidFill>
                <a:latin typeface="IBM Plex Sans" pitchFamily="34" charset="0"/>
                <a:ea typeface="IBM Plex Sans" pitchFamily="34" charset="-122"/>
                <a:cs typeface="IBM Plex Sans" pitchFamily="34" charset="-120"/>
              </a:rPr>
              <a:t>financed loans in the December 2025 snapshot</a:t>
            </a:r>
            <a:endParaRPr lang="en-US" sz="1300" dirty="0"/>
          </a:p>
        </p:txBody>
      </p:sp>
      <p:sp>
        <p:nvSpPr>
          <p:cNvPr id="12" name="Shape 10"/>
          <p:cNvSpPr/>
          <p:nvPr/>
        </p:nvSpPr>
        <p:spPr>
          <a:xfrm>
            <a:off x="7995708" y="4858385"/>
            <a:ext cx="3380317" cy="1386840"/>
          </a:xfrm>
          <a:prstGeom prst="roundRect">
            <a:avLst>
              <a:gd name="adj" fmla="val 7097"/>
            </a:avLst>
          </a:prstGeom>
          <a:noFill/>
          <a:ln w="6350">
            <a:solidFill>
              <a:srgbClr val="3A4C75"/>
            </a:solidFill>
            <a:prstDash val="solid"/>
          </a:ln>
        </p:spPr>
      </p:sp>
      <p:sp>
        <p:nvSpPr>
          <p:cNvPr id="13" name="Text 11"/>
          <p:cNvSpPr/>
          <p:nvPr/>
        </p:nvSpPr>
        <p:spPr>
          <a:xfrm>
            <a:off x="8200813" y="5063490"/>
            <a:ext cx="3059210"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F0A35E"/>
                </a:solidFill>
                <a:latin typeface="IBM Plex Sans" pitchFamily="34" charset="0"/>
                <a:ea typeface="IBM Plex Sans" pitchFamily="34" charset="-122"/>
                <a:cs typeface="IBM Plex Sans" pitchFamily="34" charset="-120"/>
              </a:rPr>
              <a:t>48</a:t>
            </a:r>
            <a:endParaRPr lang="en-US" sz="3600" dirty="0"/>
          </a:p>
        </p:txBody>
      </p:sp>
      <p:sp>
        <p:nvSpPr>
          <p:cNvPr id="14" name="Text 12"/>
          <p:cNvSpPr/>
          <p:nvPr/>
        </p:nvSpPr>
        <p:spPr>
          <a:xfrm>
            <a:off x="8200813" y="5594350"/>
            <a:ext cx="305921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9C3D8"/>
                </a:solidFill>
                <a:latin typeface="IBM Plex Sans" pitchFamily="34" charset="0"/>
                <a:ea typeface="IBM Plex Sans" pitchFamily="34" charset="-122"/>
                <a:cs typeface="IBM Plex Sans" pitchFamily="34" charset="-120"/>
              </a:rPr>
              <a:t>automated data quality checks on every run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0F"/>
                </a:solidFill>
                <a:latin typeface="IBM Plex Sans" pitchFamily="34" charset="0"/>
                <a:ea typeface="IBM Plex Sans" pitchFamily="34" charset="-122"/>
                <a:cs typeface="IBM Plex Sans" pitchFamily="34" charset="-120"/>
              </a:rPr>
              <a:t>PART 1A · PROFILING AND CLEANING</a:t>
            </a:r>
            <a:endParaRPr lang="en-US" sz="1200" dirty="0"/>
          </a:p>
        </p:txBody>
      </p:sp>
      <p:sp>
        <p:nvSpPr>
          <p:cNvPr id="3" name="Text 1"/>
          <p:cNvSpPr/>
          <p:nvPr>
            <p:ph type="title"/>
          </p:nvPr>
        </p:nvSpPr>
        <p:spPr>
          <a:xfrm>
            <a:off x="812800" y="89916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IBM Plex Sans" pitchFamily="34" charset="0"/>
                <a:ea typeface="IBM Plex Sans" pitchFamily="34" charset="-122"/>
                <a:cs typeface="IBM Plex Sans" pitchFamily="34" charset="-120"/>
              </a:rPr>
              <a:t>The raw files had seven problems, all handled and logged</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4480"/>
          <a:ext cx="10556240" cy="2641600"/>
        </p:xfrm>
        <a:graphic>
          <a:graphicData uri="http://schemas.openxmlformats.org/drawingml/2006/table">
            <a:tbl>
              <a:tblPr/>
              <a:tblGrid>
                <a:gridCol w="4011371"/>
                <a:gridCol w="2533498"/>
                <a:gridCol w="4011371"/>
              </a:tblGrid>
              <a:tr h="330200">
                <a:tc>
                  <a:txBody>
                    <a:bodyPr/>
                    <a:lstStyle/>
                    <a:p>
                      <a:pPr indent="0" marL="0">
                        <a:lnSpc>
                          <a:spcPts val="1680"/>
                        </a:lnSpc>
                        <a:buNone/>
                      </a:pPr>
                      <a:r>
                        <a:rPr lang="en-US" sz="1200" b="1" dirty="0">
                          <a:solidFill>
                            <a:srgbClr val="EDEBE4"/>
                          </a:solidFill>
                          <a:latin typeface="IBM Plex Sans" pitchFamily="34" charset="0"/>
                          <a:ea typeface="IBM Plex Sans" pitchFamily="34" charset="-122"/>
                          <a:cs typeface="IBM Plex Sans" pitchFamily="34" charset="-120"/>
                        </a:rPr>
                        <a:t>Problem found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EDEBE4"/>
                          </a:solidFill>
                          <a:latin typeface="IBM Plex Sans" pitchFamily="34" charset="0"/>
                          <a:ea typeface="IBM Plex Sans" pitchFamily="34" charset="-122"/>
                          <a:cs typeface="IBM Plex Sans" pitchFamily="34" charset="-120"/>
                        </a:rPr>
                        <a:t>Size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EDEBE4"/>
                          </a:solidFill>
                          <a:latin typeface="IBM Plex Sans" pitchFamily="34" charset="0"/>
                          <a:ea typeface="IBM Plex Sans" pitchFamily="34" charset="-122"/>
                          <a:cs typeface="IBM Plex Sans" pitchFamily="34" charset="-120"/>
                        </a:rPr>
                        <a:t>What we did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Loan Id is #N/A on most demographic rows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76% of birth-date rows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Dropped, loan cannot be identified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Credit RETURN_DATE is corrupted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All 71,456 rows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Column dropped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Last payment date falls after the snapshot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31.5%, 22,473 rows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Flagged, kept out of features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File named 30-03 holds 31 March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1 of 5 snapshots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Date read from the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CUSTOMER_AGE is days since sale, not 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All rows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Age rebuilt from date of birth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Loan term not numeric, such as STDHIGH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765 sales rows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Raw value kept and flagged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Same loan answered the NPS survey twice or more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533 loans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Latest response flagged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bl>
          </a:graphicData>
        </a:graphic>
      </p:graphicFrame>
      <p:sp>
        <p:nvSpPr>
          <p:cNvPr id="5" name="Text 2"/>
          <p:cNvSpPr/>
          <p:nvPr/>
        </p:nvSpPr>
        <p:spPr>
          <a:xfrm>
            <a:off x="812800" y="4450080"/>
            <a:ext cx="98107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8"/>
                </a:solidFill>
                <a:latin typeface="IBM Plex Sans" pitchFamily="34" charset="0"/>
                <a:ea typeface="IBM Plex Sans" pitchFamily="34" charset="-122"/>
                <a:cs typeface="IBM Plex Sans" pitchFamily="34" charset="-120"/>
              </a:rPr>
              <a:t>No credit row was lost: 71,456 in, 71,456 out. Of the 20,742 loans in the latest snapshot, 11,175 have a valid age band, 10,609 have income and 3,532 have an NPS response.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0F"/>
                </a:solidFill>
                <a:latin typeface="IBM Plex Sans" pitchFamily="34" charset="0"/>
                <a:ea typeface="IBM Plex Sans" pitchFamily="34" charset="-122"/>
                <a:cs typeface="IBM Plex Sans" pitchFamily="34" charset="-120"/>
              </a:rPr>
              <a:t>PART 1C · ETL DESIGN</a:t>
            </a:r>
            <a:endParaRPr lang="en-US" sz="1200" dirty="0"/>
          </a:p>
        </p:txBody>
      </p:sp>
      <p:sp>
        <p:nvSpPr>
          <p:cNvPr id="3" name="Text 1"/>
          <p:cNvSpPr/>
          <p:nvPr>
            <p:ph type="title"/>
          </p:nvPr>
        </p:nvSpPr>
        <p:spPr>
          <a:xfrm>
            <a:off x="812800" y="89916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IBM Plex Sans" pitchFamily="34" charset="0"/>
                <a:ea typeface="IBM Plex Sans" pitchFamily="34" charset="-122"/>
                <a:cs typeface="IBM Plex Sans" pitchFamily="34" charset="-120"/>
              </a:rPr>
              <a:t>One pipeline from raw files to the dashboard</a:t>
            </a:r>
            <a:endParaRPr lang="en-US" sz="2800" dirty="0"/>
          </a:p>
        </p:txBody>
      </p:sp>
      <p:sp>
        <p:nvSpPr>
          <p:cNvPr id="4" name="Shape 2"/>
          <p:cNvSpPr/>
          <p:nvPr/>
        </p:nvSpPr>
        <p:spPr>
          <a:xfrm>
            <a:off x="815975" y="1547495"/>
            <a:ext cx="1499023" cy="1598930"/>
          </a:xfrm>
          <a:prstGeom prst="roundRect">
            <a:avLst>
              <a:gd name="adj" fmla="val 6566"/>
            </a:avLst>
          </a:prstGeom>
          <a:solidFill>
            <a:srgbClr val="FBFAF6"/>
          </a:solidFill>
          <a:ln w="6350">
            <a:solidFill>
              <a:srgbClr val="DDD9CE"/>
            </a:solidFill>
            <a:prstDash val="solid"/>
          </a:ln>
        </p:spPr>
      </p:sp>
      <p:sp>
        <p:nvSpPr>
          <p:cNvPr id="5" name="Text 3"/>
          <p:cNvSpPr/>
          <p:nvPr/>
        </p:nvSpPr>
        <p:spPr>
          <a:xfrm>
            <a:off x="944880" y="1676400"/>
            <a:ext cx="1292013"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Source files</a:t>
            </a:r>
            <a:endParaRPr lang="en-US" sz="1600" dirty="0"/>
          </a:p>
        </p:txBody>
      </p:sp>
      <p:sp>
        <p:nvSpPr>
          <p:cNvPr id="6" name="Text 4"/>
          <p:cNvSpPr/>
          <p:nvPr/>
        </p:nvSpPr>
        <p:spPr>
          <a:xfrm>
            <a:off x="944880" y="1960880"/>
            <a:ext cx="1292013" cy="10541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558"/>
                </a:solidFill>
                <a:latin typeface="IBM Plex Sans" pitchFamily="34" charset="0"/>
                <a:ea typeface="IBM Plex Sans" pitchFamily="34" charset="-122"/>
                <a:cs typeface="IBM Plex Sans" pitchFamily="34" charset="-120"/>
              </a:rPr>
              <a:t>5 credit CSVs, sales and NPS workbooks. Never edited, archived in Cloud Storage.</a:t>
            </a:r>
            <a:endParaRPr lang="en-US" sz="1200" dirty="0"/>
          </a:p>
        </p:txBody>
      </p:sp>
      <p:pic>
        <p:nvPicPr>
          <p:cNvPr id="7" name="Image 0" descr="arrow-right">    </p:cNvPr>
          <p:cNvPicPr>
            <a:picLocks noChangeAspect="1"/>
          </p:cNvPicPr>
          <p:nvPr/>
        </p:nvPicPr>
        <p:blipFill>
          <a:blip r:embed="rId1"/>
          <a:srcRect l="0" r="0" t="0" b="0"/>
          <a:stretch/>
        </p:blipFill>
        <p:spPr>
          <a:xfrm>
            <a:off x="2368973" y="2258061"/>
            <a:ext cx="203200" cy="177800"/>
          </a:xfrm>
          <a:prstGeom prst="rect">
            <a:avLst/>
          </a:prstGeom>
        </p:spPr>
      </p:pic>
      <p:sp>
        <p:nvSpPr>
          <p:cNvPr id="8" name="Shape 5"/>
          <p:cNvSpPr/>
          <p:nvPr/>
        </p:nvSpPr>
        <p:spPr>
          <a:xfrm>
            <a:off x="2626148" y="1547495"/>
            <a:ext cx="1499023" cy="1598930"/>
          </a:xfrm>
          <a:prstGeom prst="roundRect">
            <a:avLst>
              <a:gd name="adj" fmla="val 6566"/>
            </a:avLst>
          </a:prstGeom>
          <a:solidFill>
            <a:srgbClr val="FBFAF6"/>
          </a:solidFill>
          <a:ln w="6350">
            <a:solidFill>
              <a:srgbClr val="DDD9CE"/>
            </a:solidFill>
            <a:prstDash val="solid"/>
          </a:ln>
        </p:spPr>
      </p:sp>
      <p:sp>
        <p:nvSpPr>
          <p:cNvPr id="9" name="Text 6"/>
          <p:cNvSpPr/>
          <p:nvPr/>
        </p:nvSpPr>
        <p:spPr>
          <a:xfrm>
            <a:off x="2755053" y="1676400"/>
            <a:ext cx="1292013" cy="49276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Clean and mask</a:t>
            </a:r>
            <a:endParaRPr lang="en-US" sz="1600" dirty="0"/>
          </a:p>
        </p:txBody>
      </p:sp>
      <p:sp>
        <p:nvSpPr>
          <p:cNvPr id="10" name="Text 7"/>
          <p:cNvSpPr/>
          <p:nvPr/>
        </p:nvSpPr>
        <p:spPr>
          <a:xfrm>
            <a:off x="2755053" y="2194561"/>
            <a:ext cx="1292013" cy="8483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558"/>
                </a:solidFill>
                <a:latin typeface="IBM Plex Sans" pitchFamily="34" charset="0"/>
                <a:ea typeface="IBM Plex Sans" pitchFamily="34" charset="-122"/>
                <a:cs typeface="IBM Plex Sans" pitchFamily="34" charset="-120"/>
              </a:rPr>
              <a:t>Python and pandas. Masking key from Secret Manager.</a:t>
            </a:r>
            <a:endParaRPr lang="en-US" sz="1200" dirty="0"/>
          </a:p>
        </p:txBody>
      </p:sp>
      <p:pic>
        <p:nvPicPr>
          <p:cNvPr id="11" name="Image 1" descr="arrow-right">    </p:cNvPr>
          <p:cNvPicPr>
            <a:picLocks noChangeAspect="1"/>
          </p:cNvPicPr>
          <p:nvPr/>
        </p:nvPicPr>
        <p:blipFill>
          <a:blip r:embed="rId2"/>
          <a:srcRect l="0" r="0" t="0" b="0"/>
          <a:stretch/>
        </p:blipFill>
        <p:spPr>
          <a:xfrm>
            <a:off x="4179146" y="2258061"/>
            <a:ext cx="203200" cy="177800"/>
          </a:xfrm>
          <a:prstGeom prst="rect">
            <a:avLst/>
          </a:prstGeom>
        </p:spPr>
      </p:pic>
      <p:sp>
        <p:nvSpPr>
          <p:cNvPr id="12" name="Shape 8"/>
          <p:cNvSpPr/>
          <p:nvPr/>
        </p:nvSpPr>
        <p:spPr>
          <a:xfrm>
            <a:off x="4436321" y="1547495"/>
            <a:ext cx="1499023" cy="1598930"/>
          </a:xfrm>
          <a:prstGeom prst="roundRect">
            <a:avLst>
              <a:gd name="adj" fmla="val 6566"/>
            </a:avLst>
          </a:prstGeom>
          <a:solidFill>
            <a:srgbClr val="FBFAF6"/>
          </a:solidFill>
          <a:ln w="6350">
            <a:solidFill>
              <a:srgbClr val="DDD9CE"/>
            </a:solidFill>
            <a:prstDash val="solid"/>
          </a:ln>
        </p:spPr>
      </p:sp>
      <p:sp>
        <p:nvSpPr>
          <p:cNvPr id="13" name="Text 9"/>
          <p:cNvSpPr/>
          <p:nvPr/>
        </p:nvSpPr>
        <p:spPr>
          <a:xfrm>
            <a:off x="4565227" y="1676400"/>
            <a:ext cx="1292013"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Staging</a:t>
            </a:r>
            <a:endParaRPr lang="en-US" sz="1600" dirty="0"/>
          </a:p>
        </p:txBody>
      </p:sp>
      <p:sp>
        <p:nvSpPr>
          <p:cNvPr id="14" name="Text 10"/>
          <p:cNvSpPr/>
          <p:nvPr/>
        </p:nvSpPr>
        <p:spPr>
          <a:xfrm>
            <a:off x="4565227" y="1960880"/>
            <a:ext cx="1292013"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558"/>
                </a:solidFill>
                <a:latin typeface="IBM Plex Sans" pitchFamily="34" charset="0"/>
                <a:ea typeface="IBM Plex Sans" pitchFamily="34" charset="-122"/>
                <a:cs typeface="IBM Plex Sans" pitchFamily="34" charset="-120"/>
              </a:rPr>
              <a:t>BigQuery abc_staging, 5 masked tables.</a:t>
            </a:r>
            <a:endParaRPr lang="en-US" sz="1200" dirty="0"/>
          </a:p>
        </p:txBody>
      </p:sp>
      <p:pic>
        <p:nvPicPr>
          <p:cNvPr id="15" name="Image 2" descr="arrow-right">    </p:cNvPr>
          <p:cNvPicPr>
            <a:picLocks noChangeAspect="1"/>
          </p:cNvPicPr>
          <p:nvPr/>
        </p:nvPicPr>
        <p:blipFill>
          <a:blip r:embed="rId3"/>
          <a:srcRect l="0" r="0" t="0" b="0"/>
          <a:stretch/>
        </p:blipFill>
        <p:spPr>
          <a:xfrm>
            <a:off x="5989320" y="2258061"/>
            <a:ext cx="203200" cy="177800"/>
          </a:xfrm>
          <a:prstGeom prst="rect">
            <a:avLst/>
          </a:prstGeom>
        </p:spPr>
      </p:pic>
      <p:sp>
        <p:nvSpPr>
          <p:cNvPr id="16" name="Shape 11"/>
          <p:cNvSpPr/>
          <p:nvPr/>
        </p:nvSpPr>
        <p:spPr>
          <a:xfrm>
            <a:off x="6249670" y="1550670"/>
            <a:ext cx="1502833" cy="1592580"/>
          </a:xfrm>
          <a:prstGeom prst="roundRect">
            <a:avLst>
              <a:gd name="adj" fmla="val 6338"/>
            </a:avLst>
          </a:prstGeom>
          <a:solidFill>
            <a:srgbClr val="FBFAF6"/>
          </a:solidFill>
          <a:ln w="12700">
            <a:solidFill>
              <a:srgbClr val="D9621E"/>
            </a:solidFill>
            <a:prstDash val="solid"/>
          </a:ln>
        </p:spPr>
      </p:sp>
      <p:sp>
        <p:nvSpPr>
          <p:cNvPr id="17" name="Text 12"/>
          <p:cNvSpPr/>
          <p:nvPr/>
        </p:nvSpPr>
        <p:spPr>
          <a:xfrm>
            <a:off x="6380480" y="1681480"/>
            <a:ext cx="1292013"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Quality gate</a:t>
            </a:r>
            <a:endParaRPr lang="en-US" sz="1600" dirty="0"/>
          </a:p>
        </p:txBody>
      </p:sp>
      <p:sp>
        <p:nvSpPr>
          <p:cNvPr id="18" name="Text 13"/>
          <p:cNvSpPr/>
          <p:nvPr/>
        </p:nvSpPr>
        <p:spPr>
          <a:xfrm>
            <a:off x="6380480" y="1965961"/>
            <a:ext cx="1292013"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558"/>
                </a:solidFill>
                <a:latin typeface="IBM Plex Sans" pitchFamily="34" charset="0"/>
                <a:ea typeface="IBM Plex Sans" pitchFamily="34" charset="-122"/>
                <a:cs typeface="IBM Plex Sans" pitchFamily="34" charset="-120"/>
              </a:rPr>
              <a:t>48 checks before anything is built.</a:t>
            </a:r>
            <a:endParaRPr lang="en-US" sz="1200" dirty="0"/>
          </a:p>
        </p:txBody>
      </p:sp>
      <p:pic>
        <p:nvPicPr>
          <p:cNvPr id="19" name="Image 3" descr="arrow-right">    </p:cNvPr>
          <p:cNvPicPr>
            <a:picLocks noChangeAspect="1"/>
          </p:cNvPicPr>
          <p:nvPr/>
        </p:nvPicPr>
        <p:blipFill>
          <a:blip r:embed="rId4"/>
          <a:srcRect l="0" r="0" t="0" b="0"/>
          <a:stretch/>
        </p:blipFill>
        <p:spPr>
          <a:xfrm>
            <a:off x="7809654" y="2258061"/>
            <a:ext cx="203200" cy="177800"/>
          </a:xfrm>
          <a:prstGeom prst="rect">
            <a:avLst/>
          </a:prstGeom>
        </p:spPr>
      </p:pic>
      <p:sp>
        <p:nvSpPr>
          <p:cNvPr id="20" name="Shape 14"/>
          <p:cNvSpPr/>
          <p:nvPr/>
        </p:nvSpPr>
        <p:spPr>
          <a:xfrm>
            <a:off x="8066829" y="1547495"/>
            <a:ext cx="1499023" cy="1598930"/>
          </a:xfrm>
          <a:prstGeom prst="roundRect">
            <a:avLst>
              <a:gd name="adj" fmla="val 6566"/>
            </a:avLst>
          </a:prstGeom>
          <a:solidFill>
            <a:srgbClr val="FBFAF6"/>
          </a:solidFill>
          <a:ln w="6350">
            <a:solidFill>
              <a:srgbClr val="DDD9CE"/>
            </a:solidFill>
            <a:prstDash val="solid"/>
          </a:ln>
        </p:spPr>
      </p:sp>
      <p:sp>
        <p:nvSpPr>
          <p:cNvPr id="21" name="Text 15"/>
          <p:cNvSpPr/>
          <p:nvPr/>
        </p:nvSpPr>
        <p:spPr>
          <a:xfrm>
            <a:off x="8195733" y="1676400"/>
            <a:ext cx="1292013" cy="49276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Features, marts</a:t>
            </a:r>
            <a:endParaRPr lang="en-US" sz="1600" dirty="0"/>
          </a:p>
        </p:txBody>
      </p:sp>
      <p:sp>
        <p:nvSpPr>
          <p:cNvPr id="22" name="Text 16"/>
          <p:cNvSpPr/>
          <p:nvPr/>
        </p:nvSpPr>
        <p:spPr>
          <a:xfrm>
            <a:off x="8195733" y="2194561"/>
            <a:ext cx="1292013" cy="8483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558"/>
                </a:solidFill>
                <a:latin typeface="IBM Plex Sans" pitchFamily="34" charset="0"/>
                <a:ea typeface="IBM Plex Sans" pitchFamily="34" charset="-122"/>
                <a:cs typeface="IBM Plex Sans" pitchFamily="34" charset="-120"/>
              </a:rPr>
              <a:t>SQL builds abc_marts: 1 fact table, 3 metric tables.</a:t>
            </a:r>
            <a:endParaRPr lang="en-US" sz="1200" dirty="0"/>
          </a:p>
        </p:txBody>
      </p:sp>
      <p:pic>
        <p:nvPicPr>
          <p:cNvPr id="23" name="Image 4" descr="arrow-right">    </p:cNvPr>
          <p:cNvPicPr>
            <a:picLocks noChangeAspect="1"/>
          </p:cNvPicPr>
          <p:nvPr/>
        </p:nvPicPr>
        <p:blipFill>
          <a:blip r:embed="rId5"/>
          <a:srcRect l="0" r="0" t="0" b="0"/>
          <a:stretch/>
        </p:blipFill>
        <p:spPr>
          <a:xfrm>
            <a:off x="9619827" y="2258061"/>
            <a:ext cx="203200" cy="177800"/>
          </a:xfrm>
          <a:prstGeom prst="rect">
            <a:avLst/>
          </a:prstGeom>
        </p:spPr>
      </p:pic>
      <p:sp>
        <p:nvSpPr>
          <p:cNvPr id="24" name="Shape 17"/>
          <p:cNvSpPr/>
          <p:nvPr/>
        </p:nvSpPr>
        <p:spPr>
          <a:xfrm>
            <a:off x="9877002" y="1547495"/>
            <a:ext cx="1499023" cy="1598930"/>
          </a:xfrm>
          <a:prstGeom prst="roundRect">
            <a:avLst>
              <a:gd name="adj" fmla="val 6566"/>
            </a:avLst>
          </a:prstGeom>
          <a:solidFill>
            <a:srgbClr val="FBFAF6"/>
          </a:solidFill>
          <a:ln w="6350">
            <a:solidFill>
              <a:srgbClr val="DDD9CE"/>
            </a:solidFill>
            <a:prstDash val="solid"/>
          </a:ln>
        </p:spPr>
      </p:sp>
      <p:sp>
        <p:nvSpPr>
          <p:cNvPr id="25" name="Text 18"/>
          <p:cNvSpPr/>
          <p:nvPr/>
        </p:nvSpPr>
        <p:spPr>
          <a:xfrm>
            <a:off x="10005907" y="1676400"/>
            <a:ext cx="1292013"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Dashboard</a:t>
            </a:r>
            <a:endParaRPr lang="en-US" sz="1600" dirty="0"/>
          </a:p>
        </p:txBody>
      </p:sp>
      <p:sp>
        <p:nvSpPr>
          <p:cNvPr id="26" name="Text 19"/>
          <p:cNvSpPr/>
          <p:nvPr/>
        </p:nvSpPr>
        <p:spPr>
          <a:xfrm>
            <a:off x="10005907" y="1960880"/>
            <a:ext cx="1292013"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558"/>
                </a:solidFill>
                <a:latin typeface="IBM Plex Sans" pitchFamily="34" charset="0"/>
                <a:ea typeface="IBM Plex Sans" pitchFamily="34" charset="-122"/>
                <a:cs typeface="IBM Plex Sans" pitchFamily="34" charset="-120"/>
              </a:rPr>
              <a:t>Looker Studio, 3 pages.</a:t>
            </a:r>
            <a:endParaRPr lang="en-US" sz="1200" dirty="0"/>
          </a:p>
        </p:txBody>
      </p:sp>
      <p:sp>
        <p:nvSpPr>
          <p:cNvPr id="27" name="Shape 20"/>
          <p:cNvSpPr/>
          <p:nvPr/>
        </p:nvSpPr>
        <p:spPr>
          <a:xfrm>
            <a:off x="812800" y="3403600"/>
            <a:ext cx="3420533" cy="1567180"/>
          </a:xfrm>
          <a:prstGeom prst="roundRect">
            <a:avLst>
              <a:gd name="adj" fmla="val 4862"/>
            </a:avLst>
          </a:prstGeom>
          <a:solidFill>
            <a:srgbClr val="FBFAF6"/>
          </a:solidFill>
          <a:ln/>
        </p:spPr>
      </p:sp>
      <p:sp>
        <p:nvSpPr>
          <p:cNvPr id="28" name="Shape 21"/>
          <p:cNvSpPr/>
          <p:nvPr/>
        </p:nvSpPr>
        <p:spPr>
          <a:xfrm>
            <a:off x="812800" y="3403600"/>
            <a:ext cx="3420533" cy="1567180"/>
          </a:xfrm>
          <a:custGeom>
            <a:avLst/>
            <a:gdLst/>
            <a:ahLst/>
            <a:cxnLst/>
            <a:rect l="l" t="t" r="r" b="b"/>
            <a:pathLst>
              <a:path w="3420533" h="1567180">
                <a:moveTo>
                  <a:pt x="0" y="76200"/>
                </a:moveTo>
                <a:lnTo>
                  <a:pt x="0" y="76200"/>
                </a:lnTo>
                <a:arcTo hR="76200" wR="76200" stAng="10800000" swAng="5400000"/>
                <a:lnTo>
                  <a:pt x="3344333" y="0"/>
                </a:lnTo>
                <a:arcTo hR="76200" wR="76200" stAng="16200000" swAng="5400000"/>
                <a:lnTo>
                  <a:pt x="3420533" y="76200"/>
                </a:lnTo>
                <a:arcTo hR="38100" wR="76200" stAng="0" swAng="-5400000"/>
                <a:lnTo>
                  <a:pt x="76200" y="38100"/>
                </a:lnTo>
                <a:arcTo hR="38100" wR="76200" stAng="16200000" swAng="-5400000"/>
                <a:close/>
              </a:path>
            </a:pathLst>
          </a:custGeom>
          <a:solidFill>
            <a:srgbClr val="2458D3"/>
          </a:solidFill>
          <a:ln/>
        </p:spPr>
      </p:sp>
      <p:sp>
        <p:nvSpPr>
          <p:cNvPr id="29" name="Text 22"/>
          <p:cNvSpPr/>
          <p:nvPr/>
        </p:nvSpPr>
        <p:spPr>
          <a:xfrm>
            <a:off x="990600" y="3616961"/>
            <a:ext cx="3156881"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Ingestion</a:t>
            </a:r>
            <a:endParaRPr lang="en-US" sz="1600" dirty="0"/>
          </a:p>
        </p:txBody>
      </p:sp>
      <p:sp>
        <p:nvSpPr>
          <p:cNvPr id="30" name="Text 23"/>
          <p:cNvSpPr/>
          <p:nvPr/>
        </p:nvSpPr>
        <p:spPr>
          <a:xfrm>
            <a:off x="990600" y="3901439"/>
            <a:ext cx="3156881" cy="9169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558"/>
                </a:solidFill>
                <a:latin typeface="IBM Plex Sans" pitchFamily="34" charset="0"/>
                <a:ea typeface="IBM Plex Sans" pitchFamily="34" charset="-122"/>
                <a:cs typeface="IBM Plex Sans" pitchFamily="34" charset="-120"/>
              </a:rPr>
              <a:t>Full reload on every run, safe at 71,456 rows. A daily check looks for new files. Identical files are skipped and a corrected snapshot replaces the old one.</a:t>
            </a:r>
            <a:endParaRPr lang="en-US" sz="1300" dirty="0"/>
          </a:p>
        </p:txBody>
      </p:sp>
      <p:sp>
        <p:nvSpPr>
          <p:cNvPr id="31" name="Shape 24"/>
          <p:cNvSpPr/>
          <p:nvPr/>
        </p:nvSpPr>
        <p:spPr>
          <a:xfrm>
            <a:off x="4385733" y="3403600"/>
            <a:ext cx="3420533" cy="1567180"/>
          </a:xfrm>
          <a:prstGeom prst="roundRect">
            <a:avLst>
              <a:gd name="adj" fmla="val 4862"/>
            </a:avLst>
          </a:prstGeom>
          <a:solidFill>
            <a:srgbClr val="FBE9DD"/>
          </a:solidFill>
          <a:ln/>
        </p:spPr>
      </p:sp>
      <p:sp>
        <p:nvSpPr>
          <p:cNvPr id="32" name="Shape 25"/>
          <p:cNvSpPr/>
          <p:nvPr/>
        </p:nvSpPr>
        <p:spPr>
          <a:xfrm>
            <a:off x="4385733" y="3403600"/>
            <a:ext cx="3420533" cy="1567180"/>
          </a:xfrm>
          <a:custGeom>
            <a:avLst/>
            <a:gdLst/>
            <a:ahLst/>
            <a:cxnLst/>
            <a:rect l="l" t="t" r="r" b="b"/>
            <a:pathLst>
              <a:path w="3420533" h="1567180">
                <a:moveTo>
                  <a:pt x="0" y="76200"/>
                </a:moveTo>
                <a:lnTo>
                  <a:pt x="0" y="76200"/>
                </a:lnTo>
                <a:arcTo hR="76200" wR="76200" stAng="10800000" swAng="5400000"/>
                <a:lnTo>
                  <a:pt x="3344333" y="0"/>
                </a:lnTo>
                <a:arcTo hR="76200" wR="76200" stAng="16200000" swAng="5400000"/>
                <a:lnTo>
                  <a:pt x="3420533" y="76200"/>
                </a:lnTo>
                <a:arcTo hR="38100" wR="76200" stAng="0" swAng="-5400000"/>
                <a:lnTo>
                  <a:pt x="76200" y="38100"/>
                </a:lnTo>
                <a:arcTo hR="38100" wR="76200" stAng="16200000" swAng="-5400000"/>
                <a:close/>
              </a:path>
            </a:pathLst>
          </a:custGeom>
          <a:solidFill>
            <a:srgbClr val="D9621E"/>
          </a:solidFill>
          <a:ln/>
        </p:spPr>
      </p:sp>
      <p:sp>
        <p:nvSpPr>
          <p:cNvPr id="33" name="Text 26"/>
          <p:cNvSpPr/>
          <p:nvPr/>
        </p:nvSpPr>
        <p:spPr>
          <a:xfrm>
            <a:off x="4563533" y="3616961"/>
            <a:ext cx="3156881"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If a critical check fails</a:t>
            </a:r>
            <a:endParaRPr lang="en-US" sz="1600" dirty="0"/>
          </a:p>
        </p:txBody>
      </p:sp>
      <p:sp>
        <p:nvSpPr>
          <p:cNvPr id="34" name="Text 27"/>
          <p:cNvSpPr/>
          <p:nvPr/>
        </p:nvSpPr>
        <p:spPr>
          <a:xfrm>
            <a:off x="4563533" y="3901439"/>
            <a:ext cx="3156881"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558"/>
                </a:solidFill>
                <a:latin typeface="IBM Plex Sans" pitchFamily="34" charset="0"/>
                <a:ea typeface="IBM Plex Sans" pitchFamily="34" charset="-122"/>
                <a:cs typeface="IBM Plex Sans" pitchFamily="34" charset="-120"/>
              </a:rPr>
              <a:t>The run stops and an ALERT is logged. The marts keep the last good data.</a:t>
            </a:r>
            <a:endParaRPr lang="en-US" sz="1300" dirty="0"/>
          </a:p>
        </p:txBody>
      </p:sp>
      <p:sp>
        <p:nvSpPr>
          <p:cNvPr id="35" name="Shape 28"/>
          <p:cNvSpPr/>
          <p:nvPr/>
        </p:nvSpPr>
        <p:spPr>
          <a:xfrm>
            <a:off x="7958667" y="3403600"/>
            <a:ext cx="3420533" cy="1567180"/>
          </a:xfrm>
          <a:prstGeom prst="roundRect">
            <a:avLst>
              <a:gd name="adj" fmla="val 4862"/>
            </a:avLst>
          </a:prstGeom>
          <a:solidFill>
            <a:srgbClr val="FBFAF6"/>
          </a:solidFill>
          <a:ln/>
        </p:spPr>
      </p:sp>
      <p:sp>
        <p:nvSpPr>
          <p:cNvPr id="36" name="Shape 29"/>
          <p:cNvSpPr/>
          <p:nvPr/>
        </p:nvSpPr>
        <p:spPr>
          <a:xfrm>
            <a:off x="7958667" y="3403600"/>
            <a:ext cx="3420533" cy="1567180"/>
          </a:xfrm>
          <a:custGeom>
            <a:avLst/>
            <a:gdLst/>
            <a:ahLst/>
            <a:cxnLst/>
            <a:rect l="l" t="t" r="r" b="b"/>
            <a:pathLst>
              <a:path w="3420533" h="1567180">
                <a:moveTo>
                  <a:pt x="0" y="76200"/>
                </a:moveTo>
                <a:lnTo>
                  <a:pt x="0" y="76200"/>
                </a:lnTo>
                <a:arcTo hR="76200" wR="76200" stAng="10800000" swAng="5400000"/>
                <a:lnTo>
                  <a:pt x="3344333" y="0"/>
                </a:lnTo>
                <a:arcTo hR="76200" wR="76200" stAng="16200000" swAng="5400000"/>
                <a:lnTo>
                  <a:pt x="3420533" y="76200"/>
                </a:lnTo>
                <a:arcTo hR="38100" wR="76200" stAng="0" swAng="-5400000"/>
                <a:lnTo>
                  <a:pt x="76200" y="38100"/>
                </a:lnTo>
                <a:arcTo hR="38100" wR="76200" stAng="16200000" swAng="-5400000"/>
                <a:close/>
              </a:path>
            </a:pathLst>
          </a:custGeom>
          <a:solidFill>
            <a:srgbClr val="2458D3"/>
          </a:solidFill>
          <a:ln/>
        </p:spPr>
      </p:sp>
      <p:sp>
        <p:nvSpPr>
          <p:cNvPr id="37" name="Text 30"/>
          <p:cNvSpPr/>
          <p:nvPr/>
        </p:nvSpPr>
        <p:spPr>
          <a:xfrm>
            <a:off x="8136467" y="3616961"/>
            <a:ext cx="3156881"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Storage and access</a:t>
            </a:r>
            <a:endParaRPr lang="en-US" sz="1600" dirty="0"/>
          </a:p>
        </p:txBody>
      </p:sp>
      <p:sp>
        <p:nvSpPr>
          <p:cNvPr id="38" name="Text 31"/>
          <p:cNvSpPr/>
          <p:nvPr/>
        </p:nvSpPr>
        <p:spPr>
          <a:xfrm>
            <a:off x="8136467" y="3901439"/>
            <a:ext cx="3156881"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558"/>
                </a:solidFill>
                <a:latin typeface="IBM Plex Sans" pitchFamily="34" charset="0"/>
                <a:ea typeface="IBM Plex Sans" pitchFamily="34" charset="-122"/>
                <a:cs typeface="IBM Plex Sans" pitchFamily="34" charset="-120"/>
              </a:rPr>
              <a:t>Fact table partitioned by snapshot date, clustered by loan. Analysts use Looker Studio or SQL on abc_marts.</a:t>
            </a:r>
            <a:endParaRPr lang="en-US" sz="1300" dirty="0"/>
          </a:p>
        </p:txBody>
      </p:sp>
      <p:sp>
        <p:nvSpPr>
          <p:cNvPr id="39" name="Text 32"/>
          <p:cNvSpPr/>
          <p:nvPr/>
        </p:nvSpPr>
        <p:spPr>
          <a:xfrm>
            <a:off x="812800" y="522478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Production option, not deployed: Cloud Scheduler starts a Cloud Run job that runs the same script. Full diagram: pipeline_design/architecture.png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0F"/>
                </a:solidFill>
                <a:latin typeface="IBM Plex Sans" pitchFamily="34" charset="0"/>
                <a:ea typeface="IBM Plex Sans" pitchFamily="34" charset="-122"/>
                <a:cs typeface="IBM Plex Sans" pitchFamily="34" charset="-120"/>
              </a:rPr>
              <a:t>PART 1B · FEATURES</a:t>
            </a:r>
            <a:endParaRPr lang="en-US" sz="1200" dirty="0"/>
          </a:p>
        </p:txBody>
      </p:sp>
      <p:sp>
        <p:nvSpPr>
          <p:cNvPr id="3" name="Text 1"/>
          <p:cNvSpPr/>
          <p:nvPr>
            <p:ph type="title"/>
          </p:nvPr>
        </p:nvSpPr>
        <p:spPr>
          <a:xfrm>
            <a:off x="812800" y="899161"/>
            <a:ext cx="1137920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IBM Plex Sans" pitchFamily="34" charset="0"/>
                <a:ea typeface="IBM Plex Sans" pitchFamily="34" charset="-122"/>
                <a:cs typeface="IBM Plex Sans" pitchFamily="34" charset="-120"/>
              </a:rPr>
              <a:t>Four features, built as at each snapshot and masked at the door</a:t>
            </a:r>
            <a:endParaRPr lang="en-US" sz="2800" dirty="0"/>
          </a:p>
        </p:txBody>
      </p:sp>
      <p:sp>
        <p:nvSpPr>
          <p:cNvPr id="4" name="Shape 2"/>
          <p:cNvSpPr/>
          <p:nvPr/>
        </p:nvSpPr>
        <p:spPr>
          <a:xfrm>
            <a:off x="815975" y="1547495"/>
            <a:ext cx="2520950" cy="2741930"/>
          </a:xfrm>
          <a:prstGeom prst="roundRect">
            <a:avLst>
              <a:gd name="adj" fmla="val 3904"/>
            </a:avLst>
          </a:prstGeom>
          <a:solidFill>
            <a:srgbClr val="FBFAF6"/>
          </a:solidFill>
          <a:ln w="6350">
            <a:solidFill>
              <a:srgbClr val="DDD9CE"/>
            </a:solidFill>
            <a:prstDash val="solid"/>
          </a:ln>
        </p:spPr>
      </p:sp>
      <p:sp>
        <p:nvSpPr>
          <p:cNvPr id="5" name="Text 3"/>
          <p:cNvSpPr/>
          <p:nvPr/>
        </p:nvSpPr>
        <p:spPr>
          <a:xfrm>
            <a:off x="995680" y="1727200"/>
            <a:ext cx="2226386"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Age band</a:t>
            </a:r>
            <a:endParaRPr lang="en-US" sz="1600" dirty="0"/>
          </a:p>
        </p:txBody>
      </p:sp>
      <p:sp>
        <p:nvSpPr>
          <p:cNvPr id="6" name="Text 4"/>
          <p:cNvSpPr/>
          <p:nvPr/>
        </p:nvSpPr>
        <p:spPr>
          <a:xfrm>
            <a:off x="995680" y="2037080"/>
            <a:ext cx="22263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8D3"/>
                </a:solidFill>
                <a:latin typeface="JetBrains Mono" pitchFamily="49" charset="0"/>
                <a:ea typeface="JetBrains Mono" pitchFamily="49" charset="-122"/>
                <a:cs typeface="JetBrains Mono" pitchFamily="49" charset="-120"/>
              </a:rPr>
              <a:t>age_band</a:t>
            </a:r>
            <a:endParaRPr lang="en-US" sz="1200" dirty="0"/>
          </a:p>
        </p:txBody>
      </p:sp>
      <p:sp>
        <p:nvSpPr>
          <p:cNvPr id="7" name="Text 5"/>
          <p:cNvSpPr/>
          <p:nvPr/>
        </p:nvSpPr>
        <p:spPr>
          <a:xfrm>
            <a:off x="995680" y="2326639"/>
            <a:ext cx="2226386" cy="113982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558"/>
                </a:solidFill>
                <a:latin typeface="IBM Plex Sans" pitchFamily="34" charset="0"/>
                <a:ea typeface="IBM Plex Sans" pitchFamily="34" charset="-122"/>
                <a:cs typeface="IBM Plex Sans" pitchFamily="34" charset="-120"/>
              </a:rPr>
              <a:t>Age on each snapshot date, from date of birth, which is then discarded. Bands 18-25, 26-35, 36-45, 46-55, 56+.</a:t>
            </a:r>
            <a:endParaRPr lang="en-US" sz="1300" dirty="0"/>
          </a:p>
        </p:txBody>
      </p:sp>
      <p:sp>
        <p:nvSpPr>
          <p:cNvPr id="8" name="Shape 6"/>
          <p:cNvSpPr/>
          <p:nvPr/>
        </p:nvSpPr>
        <p:spPr>
          <a:xfrm>
            <a:off x="3495675" y="1547495"/>
            <a:ext cx="2520950" cy="2741930"/>
          </a:xfrm>
          <a:prstGeom prst="roundRect">
            <a:avLst>
              <a:gd name="adj" fmla="val 3904"/>
            </a:avLst>
          </a:prstGeom>
          <a:solidFill>
            <a:srgbClr val="FBFAF6"/>
          </a:solidFill>
          <a:ln w="6350">
            <a:solidFill>
              <a:srgbClr val="DDD9CE"/>
            </a:solidFill>
            <a:prstDash val="solid"/>
          </a:ln>
        </p:spPr>
      </p:sp>
      <p:sp>
        <p:nvSpPr>
          <p:cNvPr id="9" name="Text 7"/>
          <p:cNvSpPr/>
          <p:nvPr/>
        </p:nvSpPr>
        <p:spPr>
          <a:xfrm>
            <a:off x="3675380" y="1727200"/>
            <a:ext cx="2226386"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Income band</a:t>
            </a:r>
            <a:endParaRPr lang="en-US" sz="1600" dirty="0"/>
          </a:p>
        </p:txBody>
      </p:sp>
      <p:sp>
        <p:nvSpPr>
          <p:cNvPr id="10" name="Text 8"/>
          <p:cNvSpPr/>
          <p:nvPr/>
        </p:nvSpPr>
        <p:spPr>
          <a:xfrm>
            <a:off x="3675380" y="2037080"/>
            <a:ext cx="23380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8D3"/>
                </a:solidFill>
                <a:latin typeface="JetBrains Mono" pitchFamily="49" charset="0"/>
                <a:ea typeface="JetBrains Mono" pitchFamily="49" charset="-122"/>
                <a:cs typeface="JetBrains Mono" pitchFamily="49" charset="-120"/>
              </a:rPr>
              <a:t>avg_monthly_income_band</a:t>
            </a:r>
            <a:endParaRPr lang="en-US" sz="1200" dirty="0"/>
          </a:p>
        </p:txBody>
      </p:sp>
      <p:sp>
        <p:nvSpPr>
          <p:cNvPr id="11" name="Text 9"/>
          <p:cNvSpPr/>
          <p:nvPr/>
        </p:nvSpPr>
        <p:spPr>
          <a:xfrm>
            <a:off x="3675380" y="2326639"/>
            <a:ext cx="2226386" cy="113982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558"/>
                </a:solidFill>
                <a:latin typeface="IBM Plex Sans" pitchFamily="34" charset="0"/>
                <a:ea typeface="IBM Plex Sans" pitchFamily="34" charset="-122"/>
                <a:cs typeface="IBM Plex Sans" pitchFamily="34" charset="-120"/>
              </a:rPr>
              <a:t>Amount received divided by Duration, a 1 to 24 month statement window. Eight bands, Below 5,000 to 150,000+.</a:t>
            </a:r>
            <a:endParaRPr lang="en-US" sz="1300" dirty="0"/>
          </a:p>
        </p:txBody>
      </p:sp>
      <p:sp>
        <p:nvSpPr>
          <p:cNvPr id="12" name="Shape 10"/>
          <p:cNvSpPr/>
          <p:nvPr/>
        </p:nvSpPr>
        <p:spPr>
          <a:xfrm>
            <a:off x="6175375" y="1547495"/>
            <a:ext cx="2520950" cy="2741930"/>
          </a:xfrm>
          <a:prstGeom prst="roundRect">
            <a:avLst>
              <a:gd name="adj" fmla="val 3904"/>
            </a:avLst>
          </a:prstGeom>
          <a:solidFill>
            <a:srgbClr val="FBFAF6"/>
          </a:solidFill>
          <a:ln w="6350">
            <a:solidFill>
              <a:srgbClr val="DDD9CE"/>
            </a:solidFill>
            <a:prstDash val="solid"/>
          </a:ln>
        </p:spPr>
      </p:sp>
      <p:sp>
        <p:nvSpPr>
          <p:cNvPr id="13" name="Text 11"/>
          <p:cNvSpPr/>
          <p:nvPr/>
        </p:nvSpPr>
        <p:spPr>
          <a:xfrm>
            <a:off x="6355080" y="1727200"/>
            <a:ext cx="2226386"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Days past due</a:t>
            </a:r>
            <a:endParaRPr lang="en-US" sz="1600" dirty="0"/>
          </a:p>
        </p:txBody>
      </p:sp>
      <p:sp>
        <p:nvSpPr>
          <p:cNvPr id="14" name="Text 12"/>
          <p:cNvSpPr/>
          <p:nvPr/>
        </p:nvSpPr>
        <p:spPr>
          <a:xfrm>
            <a:off x="6355080" y="2037080"/>
            <a:ext cx="22263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8D3"/>
                </a:solidFill>
                <a:latin typeface="JetBrains Mono" pitchFamily="49" charset="0"/>
                <a:ea typeface="JetBrains Mono" pitchFamily="49" charset="-122"/>
                <a:cs typeface="JetBrains Mono" pitchFamily="49" charset="-120"/>
              </a:rPr>
              <a:t>days_past_due</a:t>
            </a:r>
            <a:endParaRPr lang="en-US" sz="1200" dirty="0"/>
          </a:p>
        </p:txBody>
      </p:sp>
      <p:sp>
        <p:nvSpPr>
          <p:cNvPr id="15" name="Text 13"/>
          <p:cNvSpPr/>
          <p:nvPr/>
        </p:nvSpPr>
        <p:spPr>
          <a:xfrm>
            <a:off x="6355080" y="2326639"/>
            <a:ext cx="2226386" cy="9169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558"/>
                </a:solidFill>
                <a:latin typeface="IBM Plex Sans" pitchFamily="34" charset="0"/>
                <a:ea typeface="IBM Plex Sans" pitchFamily="34" charset="-122"/>
                <a:cs typeface="IBM Plex Sans" pitchFamily="34" charset="-120"/>
              </a:rPr>
              <a:t>Zero when arrears are not positive. The reported value is kept beside it for comparison.</a:t>
            </a:r>
            <a:endParaRPr lang="en-US" sz="1300" dirty="0"/>
          </a:p>
        </p:txBody>
      </p:sp>
      <p:sp>
        <p:nvSpPr>
          <p:cNvPr id="16" name="Shape 14"/>
          <p:cNvSpPr/>
          <p:nvPr/>
        </p:nvSpPr>
        <p:spPr>
          <a:xfrm>
            <a:off x="8855075" y="1547495"/>
            <a:ext cx="2520950" cy="2741930"/>
          </a:xfrm>
          <a:prstGeom prst="roundRect">
            <a:avLst>
              <a:gd name="adj" fmla="val 3904"/>
            </a:avLst>
          </a:prstGeom>
          <a:solidFill>
            <a:srgbClr val="FBFAF6"/>
          </a:solidFill>
          <a:ln w="6350">
            <a:solidFill>
              <a:srgbClr val="DDD9CE"/>
            </a:solidFill>
            <a:prstDash val="solid"/>
          </a:ln>
        </p:spPr>
      </p:sp>
      <p:sp>
        <p:nvSpPr>
          <p:cNvPr id="17" name="Text 15"/>
          <p:cNvSpPr/>
          <p:nvPr/>
        </p:nvSpPr>
        <p:spPr>
          <a:xfrm>
            <a:off x="9034780" y="1727200"/>
            <a:ext cx="2226386"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Risk category</a:t>
            </a:r>
            <a:endParaRPr lang="en-US" sz="1600" dirty="0"/>
          </a:p>
        </p:txBody>
      </p:sp>
      <p:sp>
        <p:nvSpPr>
          <p:cNvPr id="18" name="Text 16"/>
          <p:cNvSpPr/>
          <p:nvPr/>
        </p:nvSpPr>
        <p:spPr>
          <a:xfrm>
            <a:off x="9034780" y="2037080"/>
            <a:ext cx="22263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8D3"/>
                </a:solidFill>
                <a:latin typeface="JetBrains Mono" pitchFamily="49" charset="0"/>
                <a:ea typeface="JetBrains Mono" pitchFamily="49" charset="-122"/>
                <a:cs typeface="JetBrains Mono" pitchFamily="49" charset="-120"/>
              </a:rPr>
              <a:t>risk_category</a:t>
            </a:r>
            <a:endParaRPr lang="en-US" sz="1200" dirty="0"/>
          </a:p>
        </p:txBody>
      </p:sp>
      <p:sp>
        <p:nvSpPr>
          <p:cNvPr id="19" name="Text 17"/>
          <p:cNvSpPr/>
          <p:nvPr/>
        </p:nvSpPr>
        <p:spPr>
          <a:xfrm>
            <a:off x="9034780" y="2326639"/>
            <a:ext cx="2226386" cy="180848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558"/>
                </a:solidFill>
                <a:latin typeface="IBM Plex Sans" pitchFamily="34" charset="0"/>
                <a:ea typeface="IBM Plex Sans" pitchFamily="34" charset="-122"/>
                <a:cs typeface="IBM Plex Sans" pitchFamily="34" charset="-120"/>
              </a:rPr>
              <a:t>Seven rules, first match wins. Critical: written off, returned or 61+ days late. High: first-payment default or 31-60 days. Medium: 8-30 days or earlier lateness. Low: current or paid off.</a:t>
            </a:r>
            <a:endParaRPr lang="en-US" sz="1300" dirty="0"/>
          </a:p>
        </p:txBody>
      </p:sp>
      <p:sp>
        <p:nvSpPr>
          <p:cNvPr id="20" name="Shape 18"/>
          <p:cNvSpPr/>
          <p:nvPr/>
        </p:nvSpPr>
        <p:spPr>
          <a:xfrm>
            <a:off x="812800" y="4546600"/>
            <a:ext cx="3420533" cy="1242060"/>
          </a:xfrm>
          <a:prstGeom prst="roundRect">
            <a:avLst>
              <a:gd name="adj" fmla="val 6135"/>
            </a:avLst>
          </a:prstGeom>
          <a:solidFill>
            <a:srgbClr val="E4EBFA"/>
          </a:solidFill>
          <a:ln/>
        </p:spPr>
      </p:sp>
      <p:sp>
        <p:nvSpPr>
          <p:cNvPr id="21" name="Shape 19"/>
          <p:cNvSpPr/>
          <p:nvPr/>
        </p:nvSpPr>
        <p:spPr>
          <a:xfrm>
            <a:off x="812800" y="4546600"/>
            <a:ext cx="3420533" cy="1242060"/>
          </a:xfrm>
          <a:custGeom>
            <a:avLst/>
            <a:gdLst/>
            <a:ahLst/>
            <a:cxnLst/>
            <a:rect l="l" t="t" r="r" b="b"/>
            <a:pathLst>
              <a:path w="3420533" h="1242060">
                <a:moveTo>
                  <a:pt x="0" y="76200"/>
                </a:moveTo>
                <a:lnTo>
                  <a:pt x="0" y="76200"/>
                </a:lnTo>
                <a:arcTo hR="76200" wR="76200" stAng="10800000" swAng="5400000"/>
                <a:lnTo>
                  <a:pt x="3344333" y="0"/>
                </a:lnTo>
                <a:arcTo hR="76200" wR="76200" stAng="16200000" swAng="5400000"/>
                <a:lnTo>
                  <a:pt x="3420533" y="76200"/>
                </a:lnTo>
                <a:arcTo hR="38100" wR="76200" stAng="0" swAng="-5400000"/>
                <a:lnTo>
                  <a:pt x="76200" y="38100"/>
                </a:lnTo>
                <a:arcTo hR="38100" wR="76200" stAng="16200000" swAng="-5400000"/>
                <a:close/>
              </a:path>
            </a:pathLst>
          </a:custGeom>
          <a:solidFill>
            <a:srgbClr val="2458D3"/>
          </a:solidFill>
          <a:ln/>
        </p:spPr>
      </p:sp>
      <p:sp>
        <p:nvSpPr>
          <p:cNvPr id="22" name="Text 20"/>
          <p:cNvSpPr/>
          <p:nvPr/>
        </p:nvSpPr>
        <p:spPr>
          <a:xfrm>
            <a:off x="990600" y="4734561"/>
            <a:ext cx="3156881"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Masked at the door</a:t>
            </a:r>
            <a:endParaRPr lang="en-US" sz="1600" dirty="0"/>
          </a:p>
        </p:txBody>
      </p:sp>
      <p:sp>
        <p:nvSpPr>
          <p:cNvPr id="23" name="Text 21"/>
          <p:cNvSpPr/>
          <p:nvPr/>
        </p:nvSpPr>
        <p:spPr>
          <a:xfrm>
            <a:off x="990600" y="5019039"/>
            <a:ext cx="3156881"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558"/>
                </a:solidFill>
                <a:latin typeface="IBM Plex Sans" pitchFamily="34" charset="0"/>
                <a:ea typeface="IBM Plex Sans" pitchFamily="34" charset="-122"/>
                <a:cs typeface="IBM Plex Sans" pitchFamily="34" charset="-120"/>
              </a:rPr>
              <a:t>Every ID is an HMAC-SHA256 hash. The key is in Secret Manager. A guard blocks any raw ID, email or phone number.</a:t>
            </a:r>
            <a:endParaRPr lang="en-US" sz="1200" dirty="0"/>
          </a:p>
        </p:txBody>
      </p:sp>
      <p:sp>
        <p:nvSpPr>
          <p:cNvPr id="24" name="Shape 22"/>
          <p:cNvSpPr/>
          <p:nvPr/>
        </p:nvSpPr>
        <p:spPr>
          <a:xfrm>
            <a:off x="4385733" y="4546600"/>
            <a:ext cx="3420533" cy="1242060"/>
          </a:xfrm>
          <a:prstGeom prst="roundRect">
            <a:avLst>
              <a:gd name="adj" fmla="val 6135"/>
            </a:avLst>
          </a:prstGeom>
          <a:solidFill>
            <a:srgbClr val="E4EBFA"/>
          </a:solidFill>
          <a:ln/>
        </p:spPr>
      </p:sp>
      <p:sp>
        <p:nvSpPr>
          <p:cNvPr id="25" name="Shape 23"/>
          <p:cNvSpPr/>
          <p:nvPr/>
        </p:nvSpPr>
        <p:spPr>
          <a:xfrm>
            <a:off x="4385733" y="4546600"/>
            <a:ext cx="3420533" cy="1242060"/>
          </a:xfrm>
          <a:custGeom>
            <a:avLst/>
            <a:gdLst/>
            <a:ahLst/>
            <a:cxnLst/>
            <a:rect l="l" t="t" r="r" b="b"/>
            <a:pathLst>
              <a:path w="3420533" h="1242060">
                <a:moveTo>
                  <a:pt x="0" y="76200"/>
                </a:moveTo>
                <a:lnTo>
                  <a:pt x="0" y="76200"/>
                </a:lnTo>
                <a:arcTo hR="76200" wR="76200" stAng="10800000" swAng="5400000"/>
                <a:lnTo>
                  <a:pt x="3344333" y="0"/>
                </a:lnTo>
                <a:arcTo hR="76200" wR="76200" stAng="16200000" swAng="5400000"/>
                <a:lnTo>
                  <a:pt x="3420533" y="76200"/>
                </a:lnTo>
                <a:arcTo hR="38100" wR="76200" stAng="0" swAng="-5400000"/>
                <a:lnTo>
                  <a:pt x="76200" y="38100"/>
                </a:lnTo>
                <a:arcTo hR="38100" wR="76200" stAng="16200000" swAng="-5400000"/>
                <a:close/>
              </a:path>
            </a:pathLst>
          </a:custGeom>
          <a:solidFill>
            <a:srgbClr val="2458D3"/>
          </a:solidFill>
          <a:ln/>
        </p:spPr>
      </p:sp>
      <p:sp>
        <p:nvSpPr>
          <p:cNvPr id="26" name="Text 24"/>
          <p:cNvSpPr/>
          <p:nvPr/>
        </p:nvSpPr>
        <p:spPr>
          <a:xfrm>
            <a:off x="4563533" y="4734561"/>
            <a:ext cx="3156881"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Flag, never overwrite</a:t>
            </a:r>
            <a:endParaRPr lang="en-US" sz="1600" dirty="0"/>
          </a:p>
        </p:txBody>
      </p:sp>
      <p:sp>
        <p:nvSpPr>
          <p:cNvPr id="27" name="Text 25"/>
          <p:cNvSpPr/>
          <p:nvPr/>
        </p:nvSpPr>
        <p:spPr>
          <a:xfrm>
            <a:off x="4563533" y="5019039"/>
            <a:ext cx="3156881"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558"/>
                </a:solidFill>
                <a:latin typeface="IBM Plex Sans" pitchFamily="34" charset="0"/>
                <a:ea typeface="IBM Plex Sans" pitchFamily="34" charset="-122"/>
                <a:cs typeface="IBM Plex Sans" pitchFamily="34" charset="-120"/>
              </a:rPr>
              <a:t>Quality flags sit in dq_ columns beside the source values. History features use earlier snapshots only.</a:t>
            </a:r>
            <a:endParaRPr lang="en-US" sz="1200" dirty="0"/>
          </a:p>
        </p:txBody>
      </p:sp>
      <p:sp>
        <p:nvSpPr>
          <p:cNvPr id="28" name="Shape 26"/>
          <p:cNvSpPr/>
          <p:nvPr/>
        </p:nvSpPr>
        <p:spPr>
          <a:xfrm>
            <a:off x="7958667" y="4546600"/>
            <a:ext cx="3420533" cy="1242060"/>
          </a:xfrm>
          <a:prstGeom prst="roundRect">
            <a:avLst>
              <a:gd name="adj" fmla="val 6135"/>
            </a:avLst>
          </a:prstGeom>
          <a:solidFill>
            <a:srgbClr val="E4EBFA"/>
          </a:solidFill>
          <a:ln/>
        </p:spPr>
      </p:sp>
      <p:sp>
        <p:nvSpPr>
          <p:cNvPr id="29" name="Shape 27"/>
          <p:cNvSpPr/>
          <p:nvPr/>
        </p:nvSpPr>
        <p:spPr>
          <a:xfrm>
            <a:off x="7958667" y="4546600"/>
            <a:ext cx="3420533" cy="1242060"/>
          </a:xfrm>
          <a:custGeom>
            <a:avLst/>
            <a:gdLst/>
            <a:ahLst/>
            <a:cxnLst/>
            <a:rect l="l" t="t" r="r" b="b"/>
            <a:pathLst>
              <a:path w="3420533" h="1242060">
                <a:moveTo>
                  <a:pt x="0" y="76200"/>
                </a:moveTo>
                <a:lnTo>
                  <a:pt x="0" y="76200"/>
                </a:lnTo>
                <a:arcTo hR="76200" wR="76200" stAng="10800000" swAng="5400000"/>
                <a:lnTo>
                  <a:pt x="3344333" y="0"/>
                </a:lnTo>
                <a:arcTo hR="76200" wR="76200" stAng="16200000" swAng="5400000"/>
                <a:lnTo>
                  <a:pt x="3420533" y="76200"/>
                </a:lnTo>
                <a:arcTo hR="38100" wR="76200" stAng="0" swAng="-5400000"/>
                <a:lnTo>
                  <a:pt x="76200" y="38100"/>
                </a:lnTo>
                <a:arcTo hR="38100" wR="76200" stAng="16200000" swAng="-5400000"/>
                <a:close/>
              </a:path>
            </a:pathLst>
          </a:custGeom>
          <a:solidFill>
            <a:srgbClr val="2458D3"/>
          </a:solidFill>
          <a:ln/>
        </p:spPr>
      </p:sp>
      <p:sp>
        <p:nvSpPr>
          <p:cNvPr id="30" name="Text 28"/>
          <p:cNvSpPr/>
          <p:nvPr/>
        </p:nvSpPr>
        <p:spPr>
          <a:xfrm>
            <a:off x="8136467" y="4734561"/>
            <a:ext cx="3156881"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Simple stack</a:t>
            </a:r>
            <a:endParaRPr lang="en-US" sz="1600" dirty="0"/>
          </a:p>
        </p:txBody>
      </p:sp>
      <p:sp>
        <p:nvSpPr>
          <p:cNvPr id="31" name="Text 29"/>
          <p:cNvSpPr/>
          <p:nvPr/>
        </p:nvSpPr>
        <p:spPr>
          <a:xfrm>
            <a:off x="8136467" y="5019039"/>
            <a:ext cx="3156881"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558"/>
                </a:solidFill>
                <a:latin typeface="IBM Plex Sans" pitchFamily="34" charset="0"/>
                <a:ea typeface="IBM Plex Sans" pitchFamily="34" charset="-122"/>
                <a:cs typeface="IBM Plex Sans" pitchFamily="34" charset="-120"/>
              </a:rPr>
              <a:t>Python for messy parsing, SQL for features. Airflow or dbt would be overkill for three source files.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0F"/>
                </a:solidFill>
                <a:latin typeface="IBM Plex Sans" pitchFamily="34" charset="0"/>
                <a:ea typeface="IBM Plex Sans" pitchFamily="34" charset="-122"/>
                <a:cs typeface="IBM Plex Sans" pitchFamily="34" charset="-120"/>
              </a:rPr>
              <a:t>PART 1C · ERRORS AND RECOVERY</a:t>
            </a:r>
            <a:endParaRPr lang="en-US" sz="1200" dirty="0"/>
          </a:p>
        </p:txBody>
      </p:sp>
      <p:sp>
        <p:nvSpPr>
          <p:cNvPr id="3" name="Text 1"/>
          <p:cNvSpPr/>
          <p:nvPr>
            <p:ph type="title"/>
          </p:nvPr>
        </p:nvSpPr>
        <p:spPr>
          <a:xfrm>
            <a:off x="812800" y="89916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IBM Plex Sans" pitchFamily="34" charset="0"/>
                <a:ea typeface="IBM Plex Sans" pitchFamily="34" charset="-122"/>
                <a:cs typeface="IBM Plex Sans" pitchFamily="34" charset="-120"/>
              </a:rPr>
              <a:t>Every failure has a defined outcome, and re-running is safe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4481"/>
          <a:ext cx="10556240" cy="2641600"/>
        </p:xfrm>
        <a:graphic>
          <a:graphicData uri="http://schemas.openxmlformats.org/drawingml/2006/table">
            <a:tbl>
              <a:tblPr/>
              <a:tblGrid>
                <a:gridCol w="3061310"/>
                <a:gridCol w="4539183"/>
                <a:gridCol w="2955747"/>
              </a:tblGrid>
              <a:tr h="330200">
                <a:tc>
                  <a:txBody>
                    <a:bodyPr/>
                    <a:lstStyle/>
                    <a:p>
                      <a:pPr indent="0" marL="0">
                        <a:lnSpc>
                          <a:spcPts val="1680"/>
                        </a:lnSpc>
                        <a:buNone/>
                      </a:pPr>
                      <a:r>
                        <a:rPr lang="en-US" sz="1200" b="1" dirty="0">
                          <a:solidFill>
                            <a:srgbClr val="EDEBE4"/>
                          </a:solidFill>
                          <a:latin typeface="IBM Plex Sans" pitchFamily="34" charset="0"/>
                          <a:ea typeface="IBM Plex Sans" pitchFamily="34" charset="-122"/>
                          <a:cs typeface="IBM Plex Sans" pitchFamily="34" charset="-120"/>
                        </a:rPr>
                        <a:t>What goes wrong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EDEBE4"/>
                          </a:solidFill>
                          <a:latin typeface="IBM Plex Sans" pitchFamily="34" charset="0"/>
                          <a:ea typeface="IBM Plex Sans" pitchFamily="34" charset="-122"/>
                          <a:cs typeface="IBM Plex Sans" pitchFamily="34" charset="-120"/>
                        </a:rPr>
                        <a:t>What happens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EDEBE4"/>
                          </a:solidFill>
                          <a:latin typeface="IBM Plex Sans" pitchFamily="34" charset="0"/>
                          <a:ea typeface="IBM Plex Sans" pitchFamily="34" charset="-122"/>
                          <a:cs typeface="IBM Plex Sans" pitchFamily="34" charset="-120"/>
                        </a:rPr>
                        <a:t>How we know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A source file is missing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Cleaning stops with a clear message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ERROR log, failed step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A snapshot has not arrived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Gate stops the run, last good marts keep serving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ALERT line, dq_results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A file cannot be parsed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Crash before any write, retried twice, then stop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ERROR log, failed step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A critical check fails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Run stops and is not retried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Exit code 2, ALERT 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Personal data would reach a table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Write refused, marts scanned again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ERROR log, exit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A cloud call fails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Step retried, no double load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Warning per attempt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The pipeline runs twice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Nothing changes, identical files are skipped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load_audit checksums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bl>
          </a:graphicData>
        </a:graphic>
      </p:graphicFrame>
      <p:sp>
        <p:nvSpPr>
          <p:cNvPr id="5" name="Shape 2"/>
          <p:cNvSpPr/>
          <p:nvPr/>
        </p:nvSpPr>
        <p:spPr>
          <a:xfrm>
            <a:off x="812800" y="4450079"/>
            <a:ext cx="10566400" cy="1102360"/>
          </a:xfrm>
          <a:prstGeom prst="roundRect">
            <a:avLst>
              <a:gd name="adj" fmla="val 6912"/>
            </a:avLst>
          </a:prstGeom>
          <a:solidFill>
            <a:srgbClr val="E4EBFA"/>
          </a:solidFill>
          <a:ln/>
        </p:spPr>
      </p:sp>
      <p:sp>
        <p:nvSpPr>
          <p:cNvPr id="6" name="Shape 3"/>
          <p:cNvSpPr/>
          <p:nvPr/>
        </p:nvSpPr>
        <p:spPr>
          <a:xfrm>
            <a:off x="812800" y="4450079"/>
            <a:ext cx="10566400" cy="1102360"/>
          </a:xfrm>
          <a:custGeom>
            <a:avLst/>
            <a:gdLst/>
            <a:ahLst/>
            <a:cxnLst/>
            <a:rect l="l" t="t" r="r" b="b"/>
            <a:pathLst>
              <a:path w="10566400" h="1102360">
                <a:moveTo>
                  <a:pt x="76200" y="1102360"/>
                </a:moveTo>
                <a:lnTo>
                  <a:pt x="76200" y="1102360"/>
                </a:lnTo>
                <a:arcTo hR="76200" wR="76200" stAng="5400000" swAng="5400000"/>
                <a:lnTo>
                  <a:pt x="0" y="76200"/>
                </a:lnTo>
                <a:arcTo hR="76200" wR="76200" stAng="10800000" swAng="5400000"/>
                <a:lnTo>
                  <a:pt x="76200" y="0"/>
                </a:lnTo>
                <a:arcTo hR="76200" wR="25400" stAng="16200000" swAng="-5400000"/>
                <a:lnTo>
                  <a:pt x="50800" y="1026160"/>
                </a:lnTo>
                <a:arcTo hR="76200" wR="25400" stAng="10800000" swAng="-5400000"/>
                <a:close/>
              </a:path>
            </a:pathLst>
          </a:custGeom>
          <a:solidFill>
            <a:srgbClr val="2458D3"/>
          </a:solidFill>
          <a:ln/>
        </p:spPr>
      </p:sp>
      <p:sp>
        <p:nvSpPr>
          <p:cNvPr id="7" name="Text 4"/>
          <p:cNvSpPr/>
          <p:nvPr/>
        </p:nvSpPr>
        <p:spPr>
          <a:xfrm>
            <a:off x="1066800" y="4627879"/>
            <a:ext cx="10412476"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Why a retry is safe</a:t>
            </a:r>
            <a:endParaRPr lang="en-US" sz="1600" dirty="0"/>
          </a:p>
        </p:txBody>
      </p:sp>
      <p:sp>
        <p:nvSpPr>
          <p:cNvPr id="8" name="Text 5"/>
          <p:cNvSpPr/>
          <p:nvPr/>
        </p:nvSpPr>
        <p:spPr>
          <a:xfrm>
            <a:off x="1066800" y="4912361"/>
            <a:ext cx="1041247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8"/>
                </a:solidFill>
                <a:latin typeface="IBM Plex Sans" pitchFamily="34" charset="0"/>
                <a:ea typeface="IBM Plex Sans" pitchFamily="34" charset="-122"/>
                <a:cs typeface="IBM Plex Sans" pitchFamily="34" charset="-120"/>
              </a:rPr>
              <a:t>Loads replace whole tables, so a retry cannot double-load. The marts are rebuilt only after the quality gate passes, so the dashboard never reads half-built data.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0F"/>
                </a:solidFill>
                <a:latin typeface="IBM Plex Sans" pitchFamily="34" charset="0"/>
                <a:ea typeface="IBM Plex Sans" pitchFamily="34" charset="-122"/>
                <a:cs typeface="IBM Plex Sans" pitchFamily="34" charset="-120"/>
              </a:rPr>
              <a:t>PART 2 · DATA QUALITY FRAMEWORK</a:t>
            </a:r>
            <a:endParaRPr lang="en-US" sz="1200" dirty="0"/>
          </a:p>
        </p:txBody>
      </p:sp>
      <p:sp>
        <p:nvSpPr>
          <p:cNvPr id="3" name="Text 1"/>
          <p:cNvSpPr/>
          <p:nvPr>
            <p:ph type="title"/>
          </p:nvPr>
        </p:nvSpPr>
        <p:spPr>
          <a:xfrm>
            <a:off x="812800" y="89916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IBM Plex Sans" pitchFamily="34" charset="0"/>
                <a:ea typeface="IBM Plex Sans" pitchFamily="34" charset="-122"/>
                <a:cs typeface="IBM Plex Sans" pitchFamily="34" charset="-120"/>
              </a:rPr>
              <a:t>48 automated checks caught a real source defect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4481"/>
          <a:ext cx="4942840" cy="2854960"/>
        </p:xfrm>
        <a:graphic>
          <a:graphicData uri="http://schemas.openxmlformats.org/drawingml/2006/table">
            <a:tbl>
              <a:tblPr/>
              <a:tblGrid>
                <a:gridCol w="1779422"/>
                <a:gridCol w="593141"/>
                <a:gridCol w="2570277"/>
              </a:tblGrid>
              <a:tr h="543560">
                <a:tc>
                  <a:txBody>
                    <a:bodyPr/>
                    <a:lstStyle/>
                    <a:p>
                      <a:pPr indent="0" marL="0">
                        <a:lnSpc>
                          <a:spcPts val="1680"/>
                        </a:lnSpc>
                        <a:buNone/>
                      </a:pPr>
                      <a:r>
                        <a:rPr lang="en-US" sz="1200" b="1" dirty="0">
                          <a:solidFill>
                            <a:srgbClr val="EDEBE4"/>
                          </a:solidFill>
                          <a:latin typeface="IBM Plex Sans" pitchFamily="34" charset="0"/>
                          <a:ea typeface="IBM Plex Sans" pitchFamily="34" charset="-122"/>
                          <a:cs typeface="IBM Plex Sans" pitchFamily="34" charset="-120"/>
                        </a:rPr>
                        <a:t>Check family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EDEBE4"/>
                          </a:solidFill>
                          <a:latin typeface="IBM Plex Sans" pitchFamily="34" charset="0"/>
                          <a:ea typeface="IBM Plex Sans" pitchFamily="34" charset="-122"/>
                          <a:cs typeface="IBM Plex Sans" pitchFamily="34" charset="-120"/>
                        </a:rPr>
                        <a:t>Count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EDEBE4"/>
                          </a:solidFill>
                          <a:latin typeface="IBM Plex Sans" pitchFamily="34" charset="0"/>
                          <a:ea typeface="IBM Plex Sans" pitchFamily="34" charset="-122"/>
                          <a:cs typeface="IBM Plex Sans" pitchFamily="34" charset="-120"/>
                        </a:rPr>
                        <a:t>Catches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Freshness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Missing or shrinking snapshots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Uniqueness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Duplicate loans and responses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Referential integrity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Orphan loans across tables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Null thresholds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Missing keys, dates, amounts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Range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Impossible values and dates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Schema contract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Column or type changes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30200">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Personal data scan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Raw IDs, emails, phones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bl>
          </a:graphicData>
        </a:graphic>
      </p:graphicFrame>
      <p:sp>
        <p:nvSpPr>
          <p:cNvPr id="5" name="Text 2"/>
          <p:cNvSpPr/>
          <p:nvPr/>
        </p:nvSpPr>
        <p:spPr>
          <a:xfrm>
            <a:off x="812800" y="4511039"/>
            <a:ext cx="51015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8D3"/>
                </a:solidFill>
                <a:latin typeface="JetBrains Mono" pitchFamily="49" charset="0"/>
                <a:ea typeface="JetBrains Mono" pitchFamily="49" charset="-122"/>
                <a:cs typeface="JetBrains Mono" pitchFamily="49" charset="-120"/>
              </a:rPr>
              <a:t>scripts/quality_checks.py · sql/04_dq_checks/</a:t>
            </a:r>
            <a:endParaRPr lang="en-US" sz="1200" dirty="0"/>
          </a:p>
        </p:txBody>
      </p:sp>
      <p:sp>
        <p:nvSpPr>
          <p:cNvPr id="6" name="Text 3"/>
          <p:cNvSpPr/>
          <p:nvPr/>
        </p:nvSpPr>
        <p:spPr>
          <a:xfrm>
            <a:off x="812800" y="4826000"/>
            <a:ext cx="5101590"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558"/>
                </a:solidFill>
                <a:latin typeface="IBM Plex Sans" pitchFamily="34" charset="0"/>
                <a:ea typeface="IBM Plex Sans" pitchFamily="34" charset="-122"/>
                <a:cs typeface="IBM Plex Sans" pitchFamily="34" charset="-120"/>
              </a:rPr>
              <a:t>Alerting.</a:t>
            </a:r>
            <a:r>
              <a:rPr lang="en-US" sz="1200" dirty="0">
                <a:solidFill>
                  <a:srgbClr val="3B4558"/>
                </a:solidFill>
                <a:latin typeface="IBM Plex Sans" pitchFamily="34" charset="0"/>
                <a:ea typeface="IBM Plex Sans" pitchFamily="34" charset="-122"/>
                <a:cs typeface="IBM Plex Sans" pitchFamily="34" charset="-120"/>
              </a:rPr>
              <a:t> Critical: engineer at once, business owner next morning, engineering lead if still open after 4 hours. Warning: email and weekly digest. Info: recorded.</a:t>
            </a:r>
            <a:endParaRPr lang="en-US" sz="1200" dirty="0"/>
          </a:p>
        </p:txBody>
      </p:sp>
      <p:sp>
        <p:nvSpPr>
          <p:cNvPr id="7" name="Text 4"/>
          <p:cNvSpPr/>
          <p:nvPr/>
        </p:nvSpPr>
        <p:spPr>
          <a:xfrm>
            <a:off x="812800" y="5567679"/>
            <a:ext cx="510159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558"/>
                </a:solidFill>
                <a:latin typeface="IBM Plex Sans" pitchFamily="34" charset="0"/>
                <a:ea typeface="IBM Plex Sans" pitchFamily="34" charset="-122"/>
                <a:cs typeface="IBM Plex Sans" pitchFamily="34" charset="-120"/>
              </a:rPr>
              <a:t>Cadence.</a:t>
            </a:r>
            <a:r>
              <a:rPr lang="en-US" sz="1200" dirty="0">
                <a:solidFill>
                  <a:srgbClr val="3B4558"/>
                </a:solidFill>
                <a:latin typeface="IBM Plex Sans" pitchFamily="34" charset="0"/>
                <a:ea typeface="IBM Plex Sans" pitchFamily="34" charset="-122"/>
                <a:cs typeface="IBM Plex Sans" pitchFamily="34" charset="-120"/>
              </a:rPr>
              <a:t> Real time, on every load: files, row counts, keys, personal data. Daily: all 48 checks. Weekly: trend and drift review.</a:t>
            </a:r>
            <a:endParaRPr lang="en-US" sz="1200" dirty="0"/>
          </a:p>
        </p:txBody>
      </p:sp>
      <p:sp>
        <p:nvSpPr>
          <p:cNvPr id="8" name="Shape 5"/>
          <p:cNvSpPr/>
          <p:nvPr/>
        </p:nvSpPr>
        <p:spPr>
          <a:xfrm>
            <a:off x="6019800" y="1544321"/>
            <a:ext cx="5359400" cy="3540760"/>
          </a:xfrm>
          <a:prstGeom prst="roundRect">
            <a:avLst>
              <a:gd name="adj" fmla="val 2869"/>
            </a:avLst>
          </a:prstGeom>
          <a:solidFill>
            <a:srgbClr val="14213D"/>
          </a:solidFill>
          <a:ln/>
        </p:spPr>
      </p:sp>
      <p:sp>
        <p:nvSpPr>
          <p:cNvPr id="9" name="Text 6"/>
          <p:cNvSpPr/>
          <p:nvPr/>
        </p:nvSpPr>
        <p:spPr>
          <a:xfrm>
            <a:off x="6223000" y="1747521"/>
            <a:ext cx="510159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5E"/>
                </a:solidFill>
                <a:latin typeface="IBM Plex Sans" pitchFamily="34" charset="0"/>
                <a:ea typeface="IBM Plex Sans" pitchFamily="34" charset="-122"/>
                <a:cs typeface="IBM Plex Sans" pitchFamily="34" charset="-120"/>
              </a:rPr>
              <a:t>REAL ANOMALY, RUN OF 5 OCT 2026</a:t>
            </a:r>
            <a:endParaRPr lang="en-US" sz="1200" dirty="0"/>
          </a:p>
        </p:txBody>
      </p:sp>
      <p:sp>
        <p:nvSpPr>
          <p:cNvPr id="10" name="Text 7"/>
          <p:cNvSpPr/>
          <p:nvPr/>
        </p:nvSpPr>
        <p:spPr>
          <a:xfrm>
            <a:off x="6223000" y="2062479"/>
            <a:ext cx="510159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DEBE4"/>
                </a:solidFill>
                <a:latin typeface="IBM Plex Sans" pitchFamily="34" charset="0"/>
                <a:ea typeface="IBM Plex Sans" pitchFamily="34" charset="-122"/>
                <a:cs typeface="IBM Plex Sans" pitchFamily="34" charset="-120"/>
              </a:rPr>
              <a:t>31% of rows have a last payment date after the snapshot date</a:t>
            </a:r>
            <a:endParaRPr lang="en-US" sz="1600" dirty="0"/>
          </a:p>
        </p:txBody>
      </p:sp>
      <p:sp>
        <p:nvSpPr>
          <p:cNvPr id="11" name="Text 8"/>
          <p:cNvSpPr/>
          <p:nvPr/>
        </p:nvSpPr>
        <p:spPr>
          <a:xfrm>
            <a:off x="6223000" y="2651761"/>
            <a:ext cx="510159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3D8"/>
                </a:solidFill>
                <a:latin typeface="IBM Plex Sans" pitchFamily="34" charset="0"/>
                <a:ea typeface="IBM Plex Sans" pitchFamily="34" charset="-122"/>
                <a:cs typeface="IBM Plex Sans" pitchFamily="34" charset="-120"/>
              </a:rPr>
              <a:t>The extract stamps this field when it is exported, so older snapshots contain future information. It is flagged and kept out of features and machine learning.</a:t>
            </a:r>
            <a:endParaRPr lang="en-US" sz="1300" dirty="0"/>
          </a:p>
        </p:txBody>
      </p:sp>
      <p:sp>
        <p:nvSpPr>
          <p:cNvPr id="12" name="Shape 9"/>
          <p:cNvSpPr/>
          <p:nvPr/>
        </p:nvSpPr>
        <p:spPr>
          <a:xfrm>
            <a:off x="6223000" y="3446779"/>
            <a:ext cx="4953000" cy="1127760"/>
          </a:xfrm>
          <a:prstGeom prst="roundRect">
            <a:avLst>
              <a:gd name="adj" fmla="val 6757"/>
            </a:avLst>
          </a:prstGeom>
          <a:solidFill>
            <a:srgbClr val="0C1530"/>
          </a:solidFill>
          <a:ln/>
        </p:spPr>
      </p:sp>
      <p:sp>
        <p:nvSpPr>
          <p:cNvPr id="13" name="Text 10"/>
          <p:cNvSpPr/>
          <p:nvPr/>
        </p:nvSpPr>
        <p:spPr>
          <a:xfrm>
            <a:off x="6350000" y="3573779"/>
            <a:ext cx="4839970"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0A35E"/>
                </a:solidFill>
                <a:latin typeface="JetBrains Mono" pitchFamily="49" charset="0"/>
                <a:ea typeface="JetBrains Mono" pitchFamily="49" charset="-122"/>
                <a:cs typeface="JetBrains Mono" pitchFamily="49" charset="-120"/>
              </a:rPr>
              <a:t>WARNING [warning] range.payment_date_after_snapshot_share: observed 0.3145 vs threshold 0</a:t>
            </a:r>
            <a:endParaRPr lang="en-US" sz="1200" dirty="0"/>
          </a:p>
        </p:txBody>
      </p:sp>
      <p:sp>
        <p:nvSpPr>
          <p:cNvPr id="14" name="Text 11"/>
          <p:cNvSpPr/>
          <p:nvPr/>
        </p:nvSpPr>
        <p:spPr>
          <a:xfrm>
            <a:off x="6350000" y="4241800"/>
            <a:ext cx="483997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DEBE4"/>
                </a:solidFill>
                <a:latin typeface="JetBrains Mono" pitchFamily="49" charset="0"/>
                <a:ea typeface="JetBrains Mono" pitchFamily="49" charset="-122"/>
                <a:cs typeface="JetBrains Mono" pitchFamily="49" charset="-120"/>
              </a:rPr>
              <a:t>43 checks: 42 passed, 1 failed (0 critical)</a:t>
            </a:r>
            <a:endParaRPr lang="en-US" sz="1200" dirty="0"/>
          </a:p>
        </p:txBody>
      </p:sp>
      <p:sp>
        <p:nvSpPr>
          <p:cNvPr id="15" name="Text 12"/>
          <p:cNvSpPr/>
          <p:nvPr/>
        </p:nvSpPr>
        <p:spPr>
          <a:xfrm>
            <a:off x="6223000" y="4676139"/>
            <a:ext cx="510159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9FABC6"/>
                </a:solidFill>
                <a:latin typeface="IBM Plex Sans" pitchFamily="34" charset="0"/>
                <a:ea typeface="IBM Plex Sans" pitchFamily="34" charset="-122"/>
                <a:cs typeface="IBM Plex Sans" pitchFamily="34" charset="-120"/>
              </a:rPr>
              <a:t>Log from the first full run, before the 5 schema checks were added.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0F"/>
                </a:solidFill>
                <a:latin typeface="IBM Plex Sans" pitchFamily="34" charset="0"/>
                <a:ea typeface="IBM Plex Sans" pitchFamily="34" charset="-122"/>
                <a:cs typeface="IBM Plex Sans" pitchFamily="34" charset="-120"/>
              </a:rPr>
              <a:t>PART 3A · PORTFOLIO HEALTH, FIVE SNAPSHOTS OF 2025</a:t>
            </a:r>
            <a:endParaRPr lang="en-US" sz="1200" dirty="0"/>
          </a:p>
        </p:txBody>
      </p:sp>
      <p:sp>
        <p:nvSpPr>
          <p:cNvPr id="3" name="Text 1"/>
          <p:cNvSpPr/>
          <p:nvPr>
            <p:ph type="title"/>
          </p:nvPr>
        </p:nvSpPr>
        <p:spPr>
          <a:xfrm>
            <a:off x="812800" y="899161"/>
            <a:ext cx="10883392" cy="8077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IBM Plex Sans" pitchFamily="34" charset="0"/>
                <a:ea typeface="IBM Plex Sans" pitchFamily="34" charset="-122"/>
                <a:cs typeface="IBM Plex Sans" pitchFamily="34" charset="-120"/>
              </a:rPr>
              <a:t>Delinquency is steady, loss stays high, first-payment default is improving</a:t>
            </a:r>
            <a:endParaRPr lang="en-US" sz="2800" dirty="0"/>
          </a:p>
        </p:txBody>
      </p:sp>
      <p:sp>
        <p:nvSpPr>
          <p:cNvPr id="4" name="Text 2"/>
          <p:cNvSpPr/>
          <p:nvPr/>
        </p:nvSpPr>
        <p:spPr>
          <a:xfrm>
            <a:off x="812800" y="1910079"/>
            <a:ext cx="588645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Risk rates at each snapshot (lower is better)</a:t>
            </a:r>
            <a:endParaRPr lang="en-US" sz="1400" dirty="0"/>
          </a:p>
        </p:txBody>
      </p:sp>
      <p:pic>
        <p:nvPicPr>
          <p:cNvPr id="5" name="Image 0" descr="Line chart of loss rate, delinquency rate and first payment default rate across five snapshots in 2025">    </p:cNvPr>
          <p:cNvPicPr>
            <a:picLocks noChangeAspect="1"/>
          </p:cNvPicPr>
          <p:nvPr/>
        </p:nvPicPr>
        <p:blipFill>
          <a:blip r:embed="rId1"/>
          <a:srcRect l="0" r="0" t="0" b="0"/>
          <a:stretch/>
        </p:blipFill>
        <p:spPr>
          <a:xfrm>
            <a:off x="812800" y="2235200"/>
            <a:ext cx="4191000" cy="2794000"/>
          </a:xfrm>
          <a:prstGeom prst="rect">
            <a:avLst/>
          </a:prstGeom>
        </p:spPr>
      </p:pic>
      <p:sp>
        <p:nvSpPr>
          <p:cNvPr id="6" name="Text 3"/>
          <p:cNvSpPr/>
          <p:nvPr/>
        </p:nvSpPr>
        <p:spPr>
          <a:xfrm>
            <a:off x="762000" y="4679950"/>
            <a:ext cx="495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0%</a:t>
            </a:r>
            <a:endParaRPr lang="en-US" sz="1200" dirty="0"/>
          </a:p>
        </p:txBody>
      </p:sp>
      <p:sp>
        <p:nvSpPr>
          <p:cNvPr id="7" name="Text 4"/>
          <p:cNvSpPr/>
          <p:nvPr/>
        </p:nvSpPr>
        <p:spPr>
          <a:xfrm>
            <a:off x="762000" y="3917950"/>
            <a:ext cx="495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10%</a:t>
            </a:r>
            <a:endParaRPr lang="en-US" sz="1200" dirty="0"/>
          </a:p>
        </p:txBody>
      </p:sp>
      <p:sp>
        <p:nvSpPr>
          <p:cNvPr id="8" name="Text 5"/>
          <p:cNvSpPr/>
          <p:nvPr/>
        </p:nvSpPr>
        <p:spPr>
          <a:xfrm>
            <a:off x="762000" y="3155950"/>
            <a:ext cx="495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20%</a:t>
            </a:r>
            <a:endParaRPr lang="en-US" sz="1200" dirty="0"/>
          </a:p>
        </p:txBody>
      </p:sp>
      <p:sp>
        <p:nvSpPr>
          <p:cNvPr id="9" name="Text 6"/>
          <p:cNvSpPr/>
          <p:nvPr/>
        </p:nvSpPr>
        <p:spPr>
          <a:xfrm>
            <a:off x="762000" y="2393950"/>
            <a:ext cx="495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30%</a:t>
            </a:r>
            <a:endParaRPr lang="en-US" sz="1200" dirty="0"/>
          </a:p>
        </p:txBody>
      </p:sp>
      <p:sp>
        <p:nvSpPr>
          <p:cNvPr id="10" name="Text 7"/>
          <p:cNvSpPr/>
          <p:nvPr/>
        </p:nvSpPr>
        <p:spPr>
          <a:xfrm>
            <a:off x="1104900" y="4838700"/>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Jan</a:t>
            </a:r>
            <a:endParaRPr lang="en-US" sz="1200" dirty="0"/>
          </a:p>
        </p:txBody>
      </p:sp>
      <p:sp>
        <p:nvSpPr>
          <p:cNvPr id="11" name="Text 8"/>
          <p:cNvSpPr/>
          <p:nvPr/>
        </p:nvSpPr>
        <p:spPr>
          <a:xfrm>
            <a:off x="1993900" y="4838700"/>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Mar</a:t>
            </a:r>
            <a:endParaRPr lang="en-US" sz="1200" dirty="0"/>
          </a:p>
        </p:txBody>
      </p:sp>
      <p:sp>
        <p:nvSpPr>
          <p:cNvPr id="12" name="Text 9"/>
          <p:cNvSpPr/>
          <p:nvPr/>
        </p:nvSpPr>
        <p:spPr>
          <a:xfrm>
            <a:off x="2882900" y="4838700"/>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Jun</a:t>
            </a:r>
            <a:endParaRPr lang="en-US" sz="1200" dirty="0"/>
          </a:p>
        </p:txBody>
      </p:sp>
      <p:sp>
        <p:nvSpPr>
          <p:cNvPr id="13" name="Text 10"/>
          <p:cNvSpPr/>
          <p:nvPr/>
        </p:nvSpPr>
        <p:spPr>
          <a:xfrm>
            <a:off x="3771900" y="4838700"/>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Sep</a:t>
            </a:r>
            <a:endParaRPr lang="en-US" sz="1200" dirty="0"/>
          </a:p>
        </p:txBody>
      </p:sp>
      <p:sp>
        <p:nvSpPr>
          <p:cNvPr id="14" name="Text 11"/>
          <p:cNvSpPr/>
          <p:nvPr/>
        </p:nvSpPr>
        <p:spPr>
          <a:xfrm>
            <a:off x="4660900" y="4838700"/>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Dec</a:t>
            </a:r>
            <a:endParaRPr lang="en-US" sz="1200" dirty="0"/>
          </a:p>
        </p:txBody>
      </p:sp>
      <p:sp>
        <p:nvSpPr>
          <p:cNvPr id="15" name="Text 12"/>
          <p:cNvSpPr/>
          <p:nvPr/>
        </p:nvSpPr>
        <p:spPr>
          <a:xfrm>
            <a:off x="5080000" y="2679700"/>
            <a:ext cx="1498600"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B8460F"/>
                </a:solidFill>
                <a:latin typeface="IBM Plex Sans" pitchFamily="34" charset="0"/>
                <a:ea typeface="IBM Plex Sans" pitchFamily="34" charset="-122"/>
                <a:cs typeface="IBM Plex Sans" pitchFamily="34" charset="-120"/>
              </a:rPr>
              <a:t>Loss 26.3%</a:t>
            </a:r>
            <a:endParaRPr lang="en-US" sz="1200" dirty="0"/>
          </a:p>
        </p:txBody>
      </p:sp>
      <p:sp>
        <p:nvSpPr>
          <p:cNvPr id="16" name="Text 13"/>
          <p:cNvSpPr/>
          <p:nvPr/>
        </p:nvSpPr>
        <p:spPr>
          <a:xfrm>
            <a:off x="5080000" y="3251200"/>
            <a:ext cx="1498600" cy="3911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458D3"/>
                </a:solidFill>
                <a:latin typeface="IBM Plex Sans" pitchFamily="34" charset="0"/>
                <a:ea typeface="IBM Plex Sans" pitchFamily="34" charset="-122"/>
                <a:cs typeface="IBM Plex Sans" pitchFamily="34" charset="-120"/>
              </a:rPr>
              <a:t>Behind on payments 17.6%</a:t>
            </a:r>
            <a:endParaRPr lang="en-US" sz="1200" dirty="0"/>
          </a:p>
        </p:txBody>
      </p:sp>
      <p:sp>
        <p:nvSpPr>
          <p:cNvPr id="17" name="Text 14"/>
          <p:cNvSpPr/>
          <p:nvPr/>
        </p:nvSpPr>
        <p:spPr>
          <a:xfrm>
            <a:off x="5080000" y="4152900"/>
            <a:ext cx="1498600" cy="3911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IBM Plex Sans" pitchFamily="34" charset="0"/>
                <a:ea typeface="IBM Plex Sans" pitchFamily="34" charset="-122"/>
                <a:cs typeface="IBM Plex Sans" pitchFamily="34" charset="-120"/>
              </a:rPr>
              <a:t>First payment missed 5.8%</a:t>
            </a:r>
            <a:endParaRPr lang="en-US" sz="1200" dirty="0"/>
          </a:p>
        </p:txBody>
      </p:sp>
      <p:sp>
        <p:nvSpPr>
          <p:cNvPr id="18" name="Shape 15"/>
          <p:cNvSpPr/>
          <p:nvPr/>
        </p:nvSpPr>
        <p:spPr>
          <a:xfrm>
            <a:off x="6835775" y="1913254"/>
            <a:ext cx="4540250" cy="1604010"/>
          </a:xfrm>
          <a:prstGeom prst="roundRect">
            <a:avLst>
              <a:gd name="adj" fmla="val 6136"/>
            </a:avLst>
          </a:prstGeom>
          <a:solidFill>
            <a:srgbClr val="FBFAF6"/>
          </a:solidFill>
          <a:ln w="6350">
            <a:solidFill>
              <a:srgbClr val="DDD9CE"/>
            </a:solidFill>
            <a:prstDash val="solid"/>
          </a:ln>
        </p:spPr>
      </p:sp>
      <p:sp>
        <p:nvSpPr>
          <p:cNvPr id="19" name="Text 16"/>
          <p:cNvSpPr/>
          <p:nvPr/>
        </p:nvSpPr>
        <p:spPr>
          <a:xfrm>
            <a:off x="7015480" y="2092961"/>
            <a:ext cx="430626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Money collected</a:t>
            </a:r>
            <a:endParaRPr lang="en-US" sz="1300" dirty="0"/>
          </a:p>
        </p:txBody>
      </p:sp>
      <p:sp>
        <p:nvSpPr>
          <p:cNvPr id="20" name="Text 17"/>
          <p:cNvSpPr/>
          <p:nvPr/>
        </p:nvSpPr>
        <p:spPr>
          <a:xfrm>
            <a:off x="7015480" y="2362200"/>
            <a:ext cx="4306265"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14213D"/>
                </a:solidFill>
                <a:latin typeface="IBM Plex Sans" pitchFamily="34" charset="0"/>
                <a:ea typeface="IBM Plex Sans" pitchFamily="34" charset="-122"/>
                <a:cs typeface="IBM Plex Sans" pitchFamily="34" charset="-120"/>
              </a:rPr>
              <a:t>94.2%</a:t>
            </a:r>
            <a:endParaRPr lang="en-US" sz="3600" dirty="0"/>
          </a:p>
        </p:txBody>
      </p:sp>
      <p:sp>
        <p:nvSpPr>
          <p:cNvPr id="21" name="Text 18"/>
          <p:cNvSpPr/>
          <p:nvPr/>
        </p:nvSpPr>
        <p:spPr>
          <a:xfrm>
            <a:off x="7015480" y="2880361"/>
            <a:ext cx="4306265"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558"/>
                </a:solidFill>
                <a:latin typeface="IBM Plex Sans" pitchFamily="34" charset="0"/>
                <a:ea typeface="IBM Plex Sans" pitchFamily="34" charset="-122"/>
                <a:cs typeface="IBM Plex Sans" pitchFamily="34" charset="-120"/>
              </a:rPr>
              <a:t>94.6% in Jan, low 93.1% in Jun. Recovering.</a:t>
            </a:r>
            <a:endParaRPr lang="en-US" sz="1200" dirty="0"/>
          </a:p>
        </p:txBody>
      </p:sp>
      <p:sp>
        <p:nvSpPr>
          <p:cNvPr id="22" name="Text 19"/>
          <p:cNvSpPr/>
          <p:nvPr/>
        </p:nvSpPr>
        <p:spPr>
          <a:xfrm>
            <a:off x="7015480" y="3124200"/>
            <a:ext cx="43062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8D3"/>
                </a:solidFill>
                <a:latin typeface="IBM Plex Sans" pitchFamily="34" charset="0"/>
                <a:ea typeface="IBM Plex Sans" pitchFamily="34" charset="-122"/>
                <a:cs typeface="IBM Plex Sans" pitchFamily="34" charset="-120"/>
              </a:rPr>
              <a:t>Higher is better</a:t>
            </a:r>
            <a:endParaRPr lang="en-US" sz="1200" dirty="0"/>
          </a:p>
        </p:txBody>
      </p:sp>
      <p:sp>
        <p:nvSpPr>
          <p:cNvPr id="23" name="Shape 20"/>
          <p:cNvSpPr/>
          <p:nvPr/>
        </p:nvSpPr>
        <p:spPr>
          <a:xfrm>
            <a:off x="6835775" y="3676014"/>
            <a:ext cx="4540250" cy="1604010"/>
          </a:xfrm>
          <a:prstGeom prst="roundRect">
            <a:avLst>
              <a:gd name="adj" fmla="val 6136"/>
            </a:avLst>
          </a:prstGeom>
          <a:solidFill>
            <a:srgbClr val="FBFAF6"/>
          </a:solidFill>
          <a:ln w="6350">
            <a:solidFill>
              <a:srgbClr val="DDD9CE"/>
            </a:solidFill>
            <a:prstDash val="solid"/>
          </a:ln>
        </p:spPr>
      </p:sp>
      <p:sp>
        <p:nvSpPr>
          <p:cNvPr id="24" name="Text 21"/>
          <p:cNvSpPr/>
          <p:nvPr/>
        </p:nvSpPr>
        <p:spPr>
          <a:xfrm>
            <a:off x="7015480" y="3855721"/>
            <a:ext cx="430626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Customers retained</a:t>
            </a:r>
            <a:endParaRPr lang="en-US" sz="1300" dirty="0"/>
          </a:p>
        </p:txBody>
      </p:sp>
      <p:sp>
        <p:nvSpPr>
          <p:cNvPr id="25" name="Text 22"/>
          <p:cNvSpPr/>
          <p:nvPr/>
        </p:nvSpPr>
        <p:spPr>
          <a:xfrm>
            <a:off x="7015480" y="4124961"/>
            <a:ext cx="4306265"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14213D"/>
                </a:solidFill>
                <a:latin typeface="IBM Plex Sans" pitchFamily="34" charset="0"/>
                <a:ea typeface="IBM Plex Sans" pitchFamily="34" charset="-122"/>
                <a:cs typeface="IBM Plex Sans" pitchFamily="34" charset="-120"/>
              </a:rPr>
              <a:t>95.8%</a:t>
            </a:r>
            <a:endParaRPr lang="en-US" sz="3600" dirty="0"/>
          </a:p>
        </p:txBody>
      </p:sp>
      <p:sp>
        <p:nvSpPr>
          <p:cNvPr id="26" name="Text 23"/>
          <p:cNvSpPr/>
          <p:nvPr/>
        </p:nvSpPr>
        <p:spPr>
          <a:xfrm>
            <a:off x="7015480" y="4643121"/>
            <a:ext cx="4306265"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558"/>
                </a:solidFill>
                <a:latin typeface="IBM Plex Sans" pitchFamily="34" charset="0"/>
                <a:ea typeface="IBM Plex Sans" pitchFamily="34" charset="-122"/>
                <a:cs typeface="IBM Plex Sans" pitchFamily="34" charset="-120"/>
              </a:rPr>
              <a:t>93.6% in Mar, 95.8% now. Improving.</a:t>
            </a:r>
            <a:endParaRPr lang="en-US" sz="1200" dirty="0"/>
          </a:p>
        </p:txBody>
      </p:sp>
      <p:sp>
        <p:nvSpPr>
          <p:cNvPr id="27" name="Text 24"/>
          <p:cNvSpPr/>
          <p:nvPr/>
        </p:nvSpPr>
        <p:spPr>
          <a:xfrm>
            <a:off x="7015480" y="4886961"/>
            <a:ext cx="43062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8D3"/>
                </a:solidFill>
                <a:latin typeface="IBM Plex Sans" pitchFamily="34" charset="0"/>
                <a:ea typeface="IBM Plex Sans" pitchFamily="34" charset="-122"/>
                <a:cs typeface="IBM Plex Sans" pitchFamily="34" charset="-120"/>
              </a:rPr>
              <a:t>Higher is better</a:t>
            </a:r>
            <a:endParaRPr lang="en-US" sz="1200" dirty="0"/>
          </a:p>
        </p:txBody>
      </p:sp>
      <p:sp>
        <p:nvSpPr>
          <p:cNvPr id="28" name="Text 25"/>
          <p:cNvSpPr/>
          <p:nvPr/>
        </p:nvSpPr>
        <p:spPr>
          <a:xfrm>
            <a:off x="812800" y="5511800"/>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Snapshots: 1 Jan, 31 Mar, 30 Jun, 30 Sep, 30 Dec 2025. Delinquency and collection use performing loans. Loss is lost loans over all financed loans. Retention starts in March because it compares each snapshot with the one before.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0F"/>
                </a:solidFill>
                <a:latin typeface="IBM Plex Sans" pitchFamily="34" charset="0"/>
                <a:ea typeface="IBM Plex Sans" pitchFamily="34" charset="-122"/>
                <a:cs typeface="IBM Plex Sans" pitchFamily="34" charset="-120"/>
              </a:rPr>
              <a:t>PART 3A · WHO FALLS BEHIND</a:t>
            </a:r>
            <a:endParaRPr lang="en-US" sz="1200" dirty="0"/>
          </a:p>
        </p:txBody>
      </p:sp>
      <p:sp>
        <p:nvSpPr>
          <p:cNvPr id="3" name="Text 1"/>
          <p:cNvSpPr/>
          <p:nvPr>
            <p:ph type="title"/>
          </p:nvPr>
        </p:nvSpPr>
        <p:spPr>
          <a:xfrm>
            <a:off x="812800" y="89916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IBM Plex Sans" pitchFamily="34" charset="0"/>
                <a:ea typeface="IBM Plex Sans" pitchFamily="34" charset="-122"/>
                <a:cs typeface="IBM Plex Sans" pitchFamily="34" charset="-120"/>
              </a:rPr>
              <a:t>Customers on lower incomes fall behind more often</a:t>
            </a:r>
            <a:endParaRPr lang="en-US" sz="2800" dirty="0"/>
          </a:p>
        </p:txBody>
      </p:sp>
      <p:sp>
        <p:nvSpPr>
          <p:cNvPr id="4" name="Text 2"/>
          <p:cNvSpPr/>
          <p:nvPr/>
        </p:nvSpPr>
        <p:spPr>
          <a:xfrm>
            <a:off x="812800" y="1544321"/>
            <a:ext cx="528472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Behind on payments, by monthly income (average 17.3%)</a:t>
            </a:r>
            <a:endParaRPr lang="en-US" sz="1400" dirty="0"/>
          </a:p>
        </p:txBody>
      </p:sp>
      <p:sp>
        <p:nvSpPr>
          <p:cNvPr id="5" name="Text 3"/>
          <p:cNvSpPr/>
          <p:nvPr/>
        </p:nvSpPr>
        <p:spPr>
          <a:xfrm>
            <a:off x="762000" y="1883411"/>
            <a:ext cx="1447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Below 5,000</a:t>
            </a:r>
            <a:endParaRPr lang="en-US" sz="1200" dirty="0"/>
          </a:p>
        </p:txBody>
      </p:sp>
      <p:sp>
        <p:nvSpPr>
          <p:cNvPr id="6" name="Shape 4"/>
          <p:cNvSpPr/>
          <p:nvPr/>
        </p:nvSpPr>
        <p:spPr>
          <a:xfrm>
            <a:off x="2311400" y="1882139"/>
            <a:ext cx="2825750" cy="215900"/>
          </a:xfrm>
          <a:prstGeom prst="roundRect">
            <a:avLst>
              <a:gd name="adj" fmla="val 11765"/>
            </a:avLst>
          </a:prstGeom>
          <a:solidFill>
            <a:srgbClr val="D9621E"/>
          </a:solidFill>
          <a:ln/>
        </p:spPr>
      </p:sp>
      <p:sp>
        <p:nvSpPr>
          <p:cNvPr id="7" name="Text 5"/>
          <p:cNvSpPr/>
          <p:nvPr/>
        </p:nvSpPr>
        <p:spPr>
          <a:xfrm>
            <a:off x="5238750" y="1883411"/>
            <a:ext cx="564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24.7%</a:t>
            </a:r>
            <a:endParaRPr lang="en-US" sz="1200" dirty="0"/>
          </a:p>
        </p:txBody>
      </p:sp>
      <p:sp>
        <p:nvSpPr>
          <p:cNvPr id="8" name="Text 6"/>
          <p:cNvSpPr/>
          <p:nvPr/>
        </p:nvSpPr>
        <p:spPr>
          <a:xfrm>
            <a:off x="762000" y="2188211"/>
            <a:ext cx="1447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5,000-9,999</a:t>
            </a:r>
            <a:endParaRPr lang="en-US" sz="1200" dirty="0"/>
          </a:p>
        </p:txBody>
      </p:sp>
      <p:sp>
        <p:nvSpPr>
          <p:cNvPr id="9" name="Shape 7"/>
          <p:cNvSpPr/>
          <p:nvPr/>
        </p:nvSpPr>
        <p:spPr>
          <a:xfrm>
            <a:off x="2311400" y="2186939"/>
            <a:ext cx="2393950" cy="215900"/>
          </a:xfrm>
          <a:prstGeom prst="roundRect">
            <a:avLst>
              <a:gd name="adj" fmla="val 11765"/>
            </a:avLst>
          </a:prstGeom>
          <a:solidFill>
            <a:srgbClr val="2458D3"/>
          </a:solidFill>
          <a:ln/>
        </p:spPr>
      </p:sp>
      <p:sp>
        <p:nvSpPr>
          <p:cNvPr id="10" name="Text 8"/>
          <p:cNvSpPr/>
          <p:nvPr/>
        </p:nvSpPr>
        <p:spPr>
          <a:xfrm>
            <a:off x="4806950" y="2188211"/>
            <a:ext cx="564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21.0%</a:t>
            </a:r>
            <a:endParaRPr lang="en-US" sz="1200" dirty="0"/>
          </a:p>
        </p:txBody>
      </p:sp>
      <p:sp>
        <p:nvSpPr>
          <p:cNvPr id="11" name="Text 9"/>
          <p:cNvSpPr/>
          <p:nvPr/>
        </p:nvSpPr>
        <p:spPr>
          <a:xfrm>
            <a:off x="762000" y="2493011"/>
            <a:ext cx="1447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10,000-19,999</a:t>
            </a:r>
            <a:endParaRPr lang="en-US" sz="1200" dirty="0"/>
          </a:p>
        </p:txBody>
      </p:sp>
      <p:sp>
        <p:nvSpPr>
          <p:cNvPr id="12" name="Shape 10"/>
          <p:cNvSpPr/>
          <p:nvPr/>
        </p:nvSpPr>
        <p:spPr>
          <a:xfrm>
            <a:off x="2311400" y="2491739"/>
            <a:ext cx="2228850" cy="215900"/>
          </a:xfrm>
          <a:prstGeom prst="roundRect">
            <a:avLst>
              <a:gd name="adj" fmla="val 11765"/>
            </a:avLst>
          </a:prstGeom>
          <a:solidFill>
            <a:srgbClr val="2458D3"/>
          </a:solidFill>
          <a:ln/>
        </p:spPr>
      </p:sp>
      <p:sp>
        <p:nvSpPr>
          <p:cNvPr id="13" name="Text 11"/>
          <p:cNvSpPr/>
          <p:nvPr/>
        </p:nvSpPr>
        <p:spPr>
          <a:xfrm>
            <a:off x="4641850" y="2493011"/>
            <a:ext cx="564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19.5%</a:t>
            </a:r>
            <a:endParaRPr lang="en-US" sz="1200" dirty="0"/>
          </a:p>
        </p:txBody>
      </p:sp>
      <p:sp>
        <p:nvSpPr>
          <p:cNvPr id="14" name="Text 12"/>
          <p:cNvSpPr/>
          <p:nvPr/>
        </p:nvSpPr>
        <p:spPr>
          <a:xfrm>
            <a:off x="762000" y="2797811"/>
            <a:ext cx="1447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20,000-29,999</a:t>
            </a:r>
            <a:endParaRPr lang="en-US" sz="1200" dirty="0"/>
          </a:p>
        </p:txBody>
      </p:sp>
      <p:sp>
        <p:nvSpPr>
          <p:cNvPr id="15" name="Shape 13"/>
          <p:cNvSpPr/>
          <p:nvPr/>
        </p:nvSpPr>
        <p:spPr>
          <a:xfrm>
            <a:off x="2311400" y="2796539"/>
            <a:ext cx="2228850" cy="215900"/>
          </a:xfrm>
          <a:prstGeom prst="roundRect">
            <a:avLst>
              <a:gd name="adj" fmla="val 11765"/>
            </a:avLst>
          </a:prstGeom>
          <a:solidFill>
            <a:srgbClr val="2458D3"/>
          </a:solidFill>
          <a:ln/>
        </p:spPr>
      </p:sp>
      <p:sp>
        <p:nvSpPr>
          <p:cNvPr id="16" name="Text 14"/>
          <p:cNvSpPr/>
          <p:nvPr/>
        </p:nvSpPr>
        <p:spPr>
          <a:xfrm>
            <a:off x="4641850" y="2797811"/>
            <a:ext cx="564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19.5%</a:t>
            </a:r>
            <a:endParaRPr lang="en-US" sz="1200" dirty="0"/>
          </a:p>
        </p:txBody>
      </p:sp>
      <p:sp>
        <p:nvSpPr>
          <p:cNvPr id="17" name="Text 15"/>
          <p:cNvSpPr/>
          <p:nvPr/>
        </p:nvSpPr>
        <p:spPr>
          <a:xfrm>
            <a:off x="762000" y="3102611"/>
            <a:ext cx="1447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30,000-49,999</a:t>
            </a:r>
            <a:endParaRPr lang="en-US" sz="1200" dirty="0"/>
          </a:p>
        </p:txBody>
      </p:sp>
      <p:sp>
        <p:nvSpPr>
          <p:cNvPr id="18" name="Shape 16"/>
          <p:cNvSpPr/>
          <p:nvPr/>
        </p:nvSpPr>
        <p:spPr>
          <a:xfrm>
            <a:off x="2311400" y="3101339"/>
            <a:ext cx="2044700" cy="215900"/>
          </a:xfrm>
          <a:prstGeom prst="roundRect">
            <a:avLst>
              <a:gd name="adj" fmla="val 11765"/>
            </a:avLst>
          </a:prstGeom>
          <a:solidFill>
            <a:srgbClr val="2458D3"/>
          </a:solidFill>
          <a:ln/>
        </p:spPr>
      </p:sp>
      <p:sp>
        <p:nvSpPr>
          <p:cNvPr id="19" name="Text 17"/>
          <p:cNvSpPr/>
          <p:nvPr/>
        </p:nvSpPr>
        <p:spPr>
          <a:xfrm>
            <a:off x="4457700" y="3102611"/>
            <a:ext cx="564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17.9%</a:t>
            </a:r>
            <a:endParaRPr lang="en-US" sz="1200" dirty="0"/>
          </a:p>
        </p:txBody>
      </p:sp>
      <p:sp>
        <p:nvSpPr>
          <p:cNvPr id="20" name="Text 18"/>
          <p:cNvSpPr/>
          <p:nvPr/>
        </p:nvSpPr>
        <p:spPr>
          <a:xfrm>
            <a:off x="762000" y="3407411"/>
            <a:ext cx="1447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50,000-99,999</a:t>
            </a:r>
            <a:endParaRPr lang="en-US" sz="1200" dirty="0"/>
          </a:p>
        </p:txBody>
      </p:sp>
      <p:sp>
        <p:nvSpPr>
          <p:cNvPr id="21" name="Shape 19"/>
          <p:cNvSpPr/>
          <p:nvPr/>
        </p:nvSpPr>
        <p:spPr>
          <a:xfrm>
            <a:off x="2311400" y="3406139"/>
            <a:ext cx="1892300" cy="215900"/>
          </a:xfrm>
          <a:prstGeom prst="roundRect">
            <a:avLst>
              <a:gd name="adj" fmla="val 11765"/>
            </a:avLst>
          </a:prstGeom>
          <a:solidFill>
            <a:srgbClr val="2458D3"/>
          </a:solidFill>
          <a:ln/>
        </p:spPr>
      </p:sp>
      <p:sp>
        <p:nvSpPr>
          <p:cNvPr id="22" name="Text 20"/>
          <p:cNvSpPr/>
          <p:nvPr/>
        </p:nvSpPr>
        <p:spPr>
          <a:xfrm>
            <a:off x="4305300" y="3407411"/>
            <a:ext cx="564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16.6%</a:t>
            </a:r>
            <a:endParaRPr lang="en-US" sz="1200" dirty="0"/>
          </a:p>
        </p:txBody>
      </p:sp>
      <p:sp>
        <p:nvSpPr>
          <p:cNvPr id="23" name="Text 21"/>
          <p:cNvSpPr/>
          <p:nvPr/>
        </p:nvSpPr>
        <p:spPr>
          <a:xfrm>
            <a:off x="762000" y="3712211"/>
            <a:ext cx="1447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100,000-149,999</a:t>
            </a:r>
            <a:endParaRPr lang="en-US" sz="1200" dirty="0"/>
          </a:p>
        </p:txBody>
      </p:sp>
      <p:sp>
        <p:nvSpPr>
          <p:cNvPr id="24" name="Shape 22"/>
          <p:cNvSpPr/>
          <p:nvPr/>
        </p:nvSpPr>
        <p:spPr>
          <a:xfrm>
            <a:off x="2311400" y="3710939"/>
            <a:ext cx="1479550" cy="215900"/>
          </a:xfrm>
          <a:prstGeom prst="roundRect">
            <a:avLst>
              <a:gd name="adj" fmla="val 11765"/>
            </a:avLst>
          </a:prstGeom>
          <a:solidFill>
            <a:srgbClr val="2458D3"/>
          </a:solidFill>
          <a:ln/>
        </p:spPr>
      </p:sp>
      <p:sp>
        <p:nvSpPr>
          <p:cNvPr id="25" name="Text 23"/>
          <p:cNvSpPr/>
          <p:nvPr/>
        </p:nvSpPr>
        <p:spPr>
          <a:xfrm>
            <a:off x="3892550" y="3712211"/>
            <a:ext cx="564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12.9%</a:t>
            </a:r>
            <a:endParaRPr lang="en-US" sz="1200" dirty="0"/>
          </a:p>
        </p:txBody>
      </p:sp>
      <p:sp>
        <p:nvSpPr>
          <p:cNvPr id="26" name="Text 24"/>
          <p:cNvSpPr/>
          <p:nvPr/>
        </p:nvSpPr>
        <p:spPr>
          <a:xfrm>
            <a:off x="762000" y="4017008"/>
            <a:ext cx="1447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150,000+</a:t>
            </a:r>
            <a:endParaRPr lang="en-US" sz="1200" dirty="0"/>
          </a:p>
        </p:txBody>
      </p:sp>
      <p:sp>
        <p:nvSpPr>
          <p:cNvPr id="27" name="Shape 25"/>
          <p:cNvSpPr/>
          <p:nvPr/>
        </p:nvSpPr>
        <p:spPr>
          <a:xfrm>
            <a:off x="2311400" y="4015742"/>
            <a:ext cx="1720850" cy="215900"/>
          </a:xfrm>
          <a:prstGeom prst="roundRect">
            <a:avLst>
              <a:gd name="adj" fmla="val 11765"/>
            </a:avLst>
          </a:prstGeom>
          <a:solidFill>
            <a:srgbClr val="2458D3"/>
          </a:solidFill>
          <a:ln/>
        </p:spPr>
      </p:sp>
      <p:sp>
        <p:nvSpPr>
          <p:cNvPr id="28" name="Text 26"/>
          <p:cNvSpPr/>
          <p:nvPr/>
        </p:nvSpPr>
        <p:spPr>
          <a:xfrm>
            <a:off x="4133850" y="4017008"/>
            <a:ext cx="564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15.0%</a:t>
            </a:r>
            <a:endParaRPr lang="en-US" sz="1200" dirty="0"/>
          </a:p>
        </p:txBody>
      </p:sp>
      <p:sp>
        <p:nvSpPr>
          <p:cNvPr id="29" name="Text 27"/>
          <p:cNvSpPr/>
          <p:nvPr/>
        </p:nvSpPr>
        <p:spPr>
          <a:xfrm>
            <a:off x="6248400" y="1544321"/>
            <a:ext cx="528472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Behind on payments, by age</a:t>
            </a:r>
            <a:endParaRPr lang="en-US" sz="1400" dirty="0"/>
          </a:p>
        </p:txBody>
      </p:sp>
      <p:sp>
        <p:nvSpPr>
          <p:cNvPr id="30" name="Text 28"/>
          <p:cNvSpPr/>
          <p:nvPr/>
        </p:nvSpPr>
        <p:spPr>
          <a:xfrm>
            <a:off x="6197600" y="1883411"/>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18-25</a:t>
            </a:r>
            <a:endParaRPr lang="en-US" sz="1200" dirty="0"/>
          </a:p>
        </p:txBody>
      </p:sp>
      <p:sp>
        <p:nvSpPr>
          <p:cNvPr id="31" name="Shape 29"/>
          <p:cNvSpPr/>
          <p:nvPr/>
        </p:nvSpPr>
        <p:spPr>
          <a:xfrm>
            <a:off x="6985000" y="1882139"/>
            <a:ext cx="2305050" cy="215900"/>
          </a:xfrm>
          <a:prstGeom prst="roundRect">
            <a:avLst>
              <a:gd name="adj" fmla="val 11765"/>
            </a:avLst>
          </a:prstGeom>
          <a:solidFill>
            <a:srgbClr val="D9621E"/>
          </a:solidFill>
          <a:ln/>
        </p:spPr>
      </p:sp>
      <p:sp>
        <p:nvSpPr>
          <p:cNvPr id="32" name="Text 30"/>
          <p:cNvSpPr/>
          <p:nvPr/>
        </p:nvSpPr>
        <p:spPr>
          <a:xfrm>
            <a:off x="9391650" y="1883411"/>
            <a:ext cx="564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20.2%</a:t>
            </a:r>
            <a:endParaRPr lang="en-US" sz="1200" dirty="0"/>
          </a:p>
        </p:txBody>
      </p:sp>
      <p:sp>
        <p:nvSpPr>
          <p:cNvPr id="33" name="Text 31"/>
          <p:cNvSpPr/>
          <p:nvPr/>
        </p:nvSpPr>
        <p:spPr>
          <a:xfrm>
            <a:off x="6197600" y="2188211"/>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26-35</a:t>
            </a:r>
            <a:endParaRPr lang="en-US" sz="1200" dirty="0"/>
          </a:p>
        </p:txBody>
      </p:sp>
      <p:sp>
        <p:nvSpPr>
          <p:cNvPr id="34" name="Shape 32"/>
          <p:cNvSpPr/>
          <p:nvPr/>
        </p:nvSpPr>
        <p:spPr>
          <a:xfrm>
            <a:off x="6985000" y="2186939"/>
            <a:ext cx="1936750" cy="215900"/>
          </a:xfrm>
          <a:prstGeom prst="roundRect">
            <a:avLst>
              <a:gd name="adj" fmla="val 11765"/>
            </a:avLst>
          </a:prstGeom>
          <a:solidFill>
            <a:srgbClr val="2458D3"/>
          </a:solidFill>
          <a:ln/>
        </p:spPr>
      </p:sp>
      <p:sp>
        <p:nvSpPr>
          <p:cNvPr id="35" name="Text 33"/>
          <p:cNvSpPr/>
          <p:nvPr/>
        </p:nvSpPr>
        <p:spPr>
          <a:xfrm>
            <a:off x="9023350" y="2188211"/>
            <a:ext cx="564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16.9%</a:t>
            </a:r>
            <a:endParaRPr lang="en-US" sz="1200" dirty="0"/>
          </a:p>
        </p:txBody>
      </p:sp>
      <p:sp>
        <p:nvSpPr>
          <p:cNvPr id="36" name="Text 34"/>
          <p:cNvSpPr/>
          <p:nvPr/>
        </p:nvSpPr>
        <p:spPr>
          <a:xfrm>
            <a:off x="6197600" y="2493011"/>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36-45</a:t>
            </a:r>
            <a:endParaRPr lang="en-US" sz="1200" dirty="0"/>
          </a:p>
        </p:txBody>
      </p:sp>
      <p:sp>
        <p:nvSpPr>
          <p:cNvPr id="37" name="Shape 35"/>
          <p:cNvSpPr/>
          <p:nvPr/>
        </p:nvSpPr>
        <p:spPr>
          <a:xfrm>
            <a:off x="6985000" y="2491739"/>
            <a:ext cx="1771650" cy="215900"/>
          </a:xfrm>
          <a:prstGeom prst="roundRect">
            <a:avLst>
              <a:gd name="adj" fmla="val 11765"/>
            </a:avLst>
          </a:prstGeom>
          <a:solidFill>
            <a:srgbClr val="2458D3"/>
          </a:solidFill>
          <a:ln/>
        </p:spPr>
      </p:sp>
      <p:sp>
        <p:nvSpPr>
          <p:cNvPr id="38" name="Text 36"/>
          <p:cNvSpPr/>
          <p:nvPr/>
        </p:nvSpPr>
        <p:spPr>
          <a:xfrm>
            <a:off x="8858250" y="2493011"/>
            <a:ext cx="564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15.5%</a:t>
            </a:r>
            <a:endParaRPr lang="en-US" sz="1200" dirty="0"/>
          </a:p>
        </p:txBody>
      </p:sp>
      <p:sp>
        <p:nvSpPr>
          <p:cNvPr id="39" name="Text 37"/>
          <p:cNvSpPr/>
          <p:nvPr/>
        </p:nvSpPr>
        <p:spPr>
          <a:xfrm>
            <a:off x="6197600" y="2797811"/>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46-55</a:t>
            </a:r>
            <a:endParaRPr lang="en-US" sz="1200" dirty="0"/>
          </a:p>
        </p:txBody>
      </p:sp>
      <p:sp>
        <p:nvSpPr>
          <p:cNvPr id="40" name="Shape 38"/>
          <p:cNvSpPr/>
          <p:nvPr/>
        </p:nvSpPr>
        <p:spPr>
          <a:xfrm>
            <a:off x="6985000" y="2796539"/>
            <a:ext cx="1797050" cy="215900"/>
          </a:xfrm>
          <a:prstGeom prst="roundRect">
            <a:avLst>
              <a:gd name="adj" fmla="val 11765"/>
            </a:avLst>
          </a:prstGeom>
          <a:solidFill>
            <a:srgbClr val="2458D3"/>
          </a:solidFill>
          <a:ln/>
        </p:spPr>
      </p:sp>
      <p:sp>
        <p:nvSpPr>
          <p:cNvPr id="41" name="Text 39"/>
          <p:cNvSpPr/>
          <p:nvPr/>
        </p:nvSpPr>
        <p:spPr>
          <a:xfrm>
            <a:off x="8883650" y="2797811"/>
            <a:ext cx="564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15.7%</a:t>
            </a:r>
            <a:endParaRPr lang="en-US" sz="1200" dirty="0"/>
          </a:p>
        </p:txBody>
      </p:sp>
      <p:sp>
        <p:nvSpPr>
          <p:cNvPr id="42" name="Text 40"/>
          <p:cNvSpPr/>
          <p:nvPr/>
        </p:nvSpPr>
        <p:spPr>
          <a:xfrm>
            <a:off x="6197600" y="3102611"/>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56+</a:t>
            </a:r>
            <a:endParaRPr lang="en-US" sz="1200" dirty="0"/>
          </a:p>
        </p:txBody>
      </p:sp>
      <p:sp>
        <p:nvSpPr>
          <p:cNvPr id="43" name="Shape 41"/>
          <p:cNvSpPr/>
          <p:nvPr/>
        </p:nvSpPr>
        <p:spPr>
          <a:xfrm>
            <a:off x="6985000" y="3101339"/>
            <a:ext cx="2349500" cy="215900"/>
          </a:xfrm>
          <a:prstGeom prst="roundRect">
            <a:avLst>
              <a:gd name="adj" fmla="val 11765"/>
            </a:avLst>
          </a:prstGeom>
          <a:solidFill>
            <a:srgbClr val="D9621E"/>
          </a:solidFill>
          <a:ln/>
        </p:spPr>
      </p:sp>
      <p:sp>
        <p:nvSpPr>
          <p:cNvPr id="44" name="Text 42"/>
          <p:cNvSpPr/>
          <p:nvPr/>
        </p:nvSpPr>
        <p:spPr>
          <a:xfrm>
            <a:off x="9436100" y="3102611"/>
            <a:ext cx="564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20.6%</a:t>
            </a:r>
            <a:endParaRPr lang="en-US" sz="1200" dirty="0"/>
          </a:p>
        </p:txBody>
      </p:sp>
      <p:sp>
        <p:nvSpPr>
          <p:cNvPr id="45" name="Text 43"/>
          <p:cNvSpPr/>
          <p:nvPr/>
        </p:nvSpPr>
        <p:spPr>
          <a:xfrm>
            <a:off x="6248400" y="3406139"/>
            <a:ext cx="52847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Income shows the clearer pattern. The youngest and oldest groups also fall behind more than ages 26 to 55.</a:t>
            </a:r>
            <a:endParaRPr lang="en-US" sz="1200" dirty="0"/>
          </a:p>
        </p:txBody>
      </p:sp>
      <p:sp>
        <p:nvSpPr>
          <p:cNvPr id="46" name="Text 44"/>
          <p:cNvSpPr/>
          <p:nvPr/>
        </p:nvSpPr>
        <p:spPr>
          <a:xfrm>
            <a:off x="812800" y="4485642"/>
            <a:ext cx="1088339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The segment that stands out: income below 5,000 at 24.7% against an average of 17.3%. Loans sold since 1 Jan 2025, December 2025 snapshot. Delinquency falls steadily as income rises (trend test p &lt; 0.0001). Below 5,000 has only 170 performing loans and 56+ only 73, so those two bars are the least certain.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609600"/>
            <a:ext cx="10883392" cy="237173"/>
          </a:xfrm>
          <a:prstGeom prst="rect">
            <a:avLst/>
          </a:prstGeom>
          <a:noFill/>
          <a:ln/>
        </p:spPr>
        <p:txBody>
          <a:bodyPr wrap="square" lIns="0" tIns="0" rIns="0" bIns="0" rtlCol="0" anchor="t">
            <a:normAutofit/>
          </a:bodyPr>
          <a:lstStyle/>
          <a:p>
            <a:pPr algn="l" indent="0" marL="0">
              <a:lnSpc>
                <a:spcPts val="1670"/>
              </a:lnSpc>
              <a:buNone/>
            </a:pPr>
            <a:r>
              <a:rPr lang="en-US" sz="1193" b="1" spc="100" kern="0" dirty="0">
                <a:solidFill>
                  <a:srgbClr val="B8460F"/>
                </a:solidFill>
                <a:latin typeface="IBM Plex Sans" pitchFamily="34" charset="0"/>
                <a:ea typeface="IBM Plex Sans" pitchFamily="34" charset="-122"/>
                <a:cs typeface="IBM Plex Sans" pitchFamily="34" charset="-120"/>
              </a:rPr>
              <a:t>PART 3B · CREDIT AND CUSTOMER SATISFACTION</a:t>
            </a:r>
            <a:endParaRPr lang="en-US" sz="1193" dirty="0"/>
          </a:p>
        </p:txBody>
      </p:sp>
      <p:sp>
        <p:nvSpPr>
          <p:cNvPr id="3" name="Text 1"/>
          <p:cNvSpPr/>
          <p:nvPr>
            <p:ph type="title"/>
          </p:nvPr>
        </p:nvSpPr>
        <p:spPr>
          <a:xfrm>
            <a:off x="812800" y="897570"/>
            <a:ext cx="10883392" cy="413597"/>
          </a:xfrm>
          <a:prstGeom prst="rect">
            <a:avLst/>
          </a:prstGeom>
          <a:noFill/>
          <a:ln/>
        </p:spPr>
        <p:txBody>
          <a:bodyPr wrap="square" lIns="0" tIns="0" rIns="0" bIns="0" rtlCol="0" anchor="t">
            <a:normAutofit/>
          </a:bodyPr>
          <a:lstStyle/>
          <a:p>
            <a:pPr algn="l" indent="0" marL="0">
              <a:lnSpc>
                <a:spcPts val="3070"/>
              </a:lnSpc>
              <a:buNone/>
            </a:pPr>
            <a:r>
              <a:rPr lang="en-US" sz="2791" b="1" i="0" dirty="0">
                <a:solidFill>
                  <a:srgbClr val="14213D"/>
                </a:solidFill>
                <a:latin typeface="IBM Plex Sans" pitchFamily="34" charset="0"/>
                <a:ea typeface="IBM Plex Sans" pitchFamily="34" charset="-122"/>
                <a:cs typeface="IBM Plex Sans" pitchFamily="34" charset="-120"/>
              </a:rPr>
              <a:t>Customers who fall behind score us lower</a:t>
            </a:r>
            <a:endParaRPr lang="en-US" sz="2791" dirty="0"/>
          </a:p>
        </p:txBody>
      </p:sp>
      <p:sp>
        <p:nvSpPr>
          <p:cNvPr id="4" name="Text 2"/>
          <p:cNvSpPr/>
          <p:nvPr/>
        </p:nvSpPr>
        <p:spPr>
          <a:xfrm>
            <a:off x="812800" y="1488970"/>
            <a:ext cx="528472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Average score (0 to 10), by how late</a:t>
            </a:r>
            <a:endParaRPr lang="en-US" sz="1400" dirty="0"/>
          </a:p>
        </p:txBody>
      </p:sp>
      <p:sp>
        <p:nvSpPr>
          <p:cNvPr id="5" name="Text 3"/>
          <p:cNvSpPr/>
          <p:nvPr/>
        </p:nvSpPr>
        <p:spPr>
          <a:xfrm>
            <a:off x="762000" y="1828062"/>
            <a:ext cx="1511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Up to date</a:t>
            </a:r>
            <a:endParaRPr lang="en-US" sz="1200" dirty="0"/>
          </a:p>
        </p:txBody>
      </p:sp>
      <p:sp>
        <p:nvSpPr>
          <p:cNvPr id="6" name="Shape 4"/>
          <p:cNvSpPr/>
          <p:nvPr/>
        </p:nvSpPr>
        <p:spPr>
          <a:xfrm>
            <a:off x="2374900" y="1826791"/>
            <a:ext cx="2603500" cy="215900"/>
          </a:xfrm>
          <a:prstGeom prst="roundRect">
            <a:avLst>
              <a:gd name="adj" fmla="val 11765"/>
            </a:avLst>
          </a:prstGeom>
          <a:solidFill>
            <a:srgbClr val="2458D3"/>
          </a:solidFill>
          <a:ln/>
        </p:spPr>
      </p:sp>
      <p:sp>
        <p:nvSpPr>
          <p:cNvPr id="7" name="Text 5"/>
          <p:cNvSpPr/>
          <p:nvPr/>
        </p:nvSpPr>
        <p:spPr>
          <a:xfrm>
            <a:off x="5080000" y="1828062"/>
            <a:ext cx="2808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6.8</a:t>
            </a:r>
            <a:endParaRPr lang="en-US" sz="1200" dirty="0"/>
          </a:p>
        </p:txBody>
      </p:sp>
      <p:sp>
        <p:nvSpPr>
          <p:cNvPr id="8" name="Text 6"/>
          <p:cNvSpPr/>
          <p:nvPr/>
        </p:nvSpPr>
        <p:spPr>
          <a:xfrm>
            <a:off x="762000" y="2132862"/>
            <a:ext cx="1511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Late 1-30 days</a:t>
            </a:r>
            <a:endParaRPr lang="en-US" sz="1200" dirty="0"/>
          </a:p>
        </p:txBody>
      </p:sp>
      <p:sp>
        <p:nvSpPr>
          <p:cNvPr id="9" name="Shape 7"/>
          <p:cNvSpPr/>
          <p:nvPr/>
        </p:nvSpPr>
        <p:spPr>
          <a:xfrm>
            <a:off x="2374900" y="2131591"/>
            <a:ext cx="2330450" cy="215900"/>
          </a:xfrm>
          <a:prstGeom prst="roundRect">
            <a:avLst>
              <a:gd name="adj" fmla="val 11765"/>
            </a:avLst>
          </a:prstGeom>
          <a:solidFill>
            <a:srgbClr val="2458D3"/>
          </a:solidFill>
          <a:ln/>
        </p:spPr>
      </p:sp>
      <p:sp>
        <p:nvSpPr>
          <p:cNvPr id="10" name="Text 8"/>
          <p:cNvSpPr/>
          <p:nvPr/>
        </p:nvSpPr>
        <p:spPr>
          <a:xfrm>
            <a:off x="4806950" y="2132862"/>
            <a:ext cx="2808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6.1</a:t>
            </a:r>
            <a:endParaRPr lang="en-US" sz="1200" dirty="0"/>
          </a:p>
        </p:txBody>
      </p:sp>
      <p:sp>
        <p:nvSpPr>
          <p:cNvPr id="11" name="Text 9"/>
          <p:cNvSpPr/>
          <p:nvPr/>
        </p:nvSpPr>
        <p:spPr>
          <a:xfrm>
            <a:off x="762000" y="2437662"/>
            <a:ext cx="1511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Late 31-90 days</a:t>
            </a:r>
            <a:endParaRPr lang="en-US" sz="1200" dirty="0"/>
          </a:p>
        </p:txBody>
      </p:sp>
      <p:sp>
        <p:nvSpPr>
          <p:cNvPr id="12" name="Shape 10"/>
          <p:cNvSpPr/>
          <p:nvPr/>
        </p:nvSpPr>
        <p:spPr>
          <a:xfrm>
            <a:off x="2374900" y="2436391"/>
            <a:ext cx="2165350" cy="215900"/>
          </a:xfrm>
          <a:prstGeom prst="roundRect">
            <a:avLst>
              <a:gd name="adj" fmla="val 11765"/>
            </a:avLst>
          </a:prstGeom>
          <a:solidFill>
            <a:srgbClr val="2458D3"/>
          </a:solidFill>
          <a:ln/>
        </p:spPr>
      </p:sp>
      <p:sp>
        <p:nvSpPr>
          <p:cNvPr id="13" name="Text 11"/>
          <p:cNvSpPr/>
          <p:nvPr/>
        </p:nvSpPr>
        <p:spPr>
          <a:xfrm>
            <a:off x="4641850" y="2437662"/>
            <a:ext cx="2808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5.7</a:t>
            </a:r>
            <a:endParaRPr lang="en-US" sz="1200" dirty="0"/>
          </a:p>
        </p:txBody>
      </p:sp>
      <p:sp>
        <p:nvSpPr>
          <p:cNvPr id="14" name="Text 12"/>
          <p:cNvSpPr/>
          <p:nvPr/>
        </p:nvSpPr>
        <p:spPr>
          <a:xfrm>
            <a:off x="762000" y="2742462"/>
            <a:ext cx="1511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Late 91+ days</a:t>
            </a:r>
            <a:endParaRPr lang="en-US" sz="1200" dirty="0"/>
          </a:p>
        </p:txBody>
      </p:sp>
      <p:sp>
        <p:nvSpPr>
          <p:cNvPr id="15" name="Shape 13"/>
          <p:cNvSpPr/>
          <p:nvPr/>
        </p:nvSpPr>
        <p:spPr>
          <a:xfrm>
            <a:off x="2374900" y="2741191"/>
            <a:ext cx="1631950" cy="215900"/>
          </a:xfrm>
          <a:prstGeom prst="roundRect">
            <a:avLst>
              <a:gd name="adj" fmla="val 11765"/>
            </a:avLst>
          </a:prstGeom>
          <a:solidFill>
            <a:srgbClr val="D9621E"/>
          </a:solidFill>
          <a:ln/>
        </p:spPr>
      </p:sp>
      <p:sp>
        <p:nvSpPr>
          <p:cNvPr id="16" name="Text 14"/>
          <p:cNvSpPr/>
          <p:nvPr/>
        </p:nvSpPr>
        <p:spPr>
          <a:xfrm>
            <a:off x="4108450" y="2742462"/>
            <a:ext cx="2808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4.3</a:t>
            </a:r>
            <a:endParaRPr lang="en-US" sz="1200" dirty="0"/>
          </a:p>
        </p:txBody>
      </p:sp>
      <p:sp>
        <p:nvSpPr>
          <p:cNvPr id="17" name="Text 15"/>
          <p:cNvSpPr/>
          <p:nvPr/>
        </p:nvSpPr>
        <p:spPr>
          <a:xfrm>
            <a:off x="812800" y="3045991"/>
            <a:ext cx="52847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There is no credit score in the data, so days late stands in for it. NPS: +6.5 up to date, -39 at 91+ days late.</a:t>
            </a:r>
            <a:endParaRPr lang="en-US" sz="1200" dirty="0"/>
          </a:p>
        </p:txBody>
      </p:sp>
      <p:sp>
        <p:nvSpPr>
          <p:cNvPr id="18" name="Text 16"/>
          <p:cNvSpPr/>
          <p:nvPr/>
        </p:nvSpPr>
        <p:spPr>
          <a:xfrm>
            <a:off x="6248400" y="1488970"/>
            <a:ext cx="528472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Average score, by experience</a:t>
            </a:r>
            <a:endParaRPr lang="en-US" sz="1400" dirty="0"/>
          </a:p>
        </p:txBody>
      </p:sp>
      <p:sp>
        <p:nvSpPr>
          <p:cNvPr id="19" name="Text 17"/>
          <p:cNvSpPr/>
          <p:nvPr/>
        </p:nvSpPr>
        <p:spPr>
          <a:xfrm>
            <a:off x="6248400" y="1826791"/>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558"/>
                </a:solidFill>
                <a:latin typeface="IBM Plex Sans" pitchFamily="34" charset="0"/>
                <a:ea typeface="IBM Plex Sans" pitchFamily="34" charset="-122"/>
                <a:cs typeface="IBM Plex Sans" pitchFamily="34" charset="-120"/>
              </a:rPr>
              <a:t>Trouble getting customer care help</a:t>
            </a:r>
            <a:endParaRPr lang="en-US" sz="1200" dirty="0"/>
          </a:p>
        </p:txBody>
      </p:sp>
      <p:sp>
        <p:nvSpPr>
          <p:cNvPr id="20" name="Text 18"/>
          <p:cNvSpPr/>
          <p:nvPr/>
        </p:nvSpPr>
        <p:spPr>
          <a:xfrm>
            <a:off x="6197600" y="2129048"/>
            <a:ext cx="495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Yes</a:t>
            </a:r>
            <a:endParaRPr lang="en-US" sz="1200" dirty="0"/>
          </a:p>
        </p:txBody>
      </p:sp>
      <p:sp>
        <p:nvSpPr>
          <p:cNvPr id="21" name="Shape 19"/>
          <p:cNvSpPr/>
          <p:nvPr/>
        </p:nvSpPr>
        <p:spPr>
          <a:xfrm>
            <a:off x="6794500" y="2146827"/>
            <a:ext cx="1676400" cy="177800"/>
          </a:xfrm>
          <a:prstGeom prst="roundRect">
            <a:avLst>
              <a:gd name="adj" fmla="val 14286"/>
            </a:avLst>
          </a:prstGeom>
          <a:solidFill>
            <a:srgbClr val="D9621E"/>
          </a:solidFill>
          <a:ln/>
        </p:spPr>
      </p:sp>
      <p:sp>
        <p:nvSpPr>
          <p:cNvPr id="22" name="Text 20"/>
          <p:cNvSpPr/>
          <p:nvPr/>
        </p:nvSpPr>
        <p:spPr>
          <a:xfrm>
            <a:off x="8572500" y="2129048"/>
            <a:ext cx="2808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4.4</a:t>
            </a:r>
            <a:endParaRPr lang="en-US" sz="1200" dirty="0"/>
          </a:p>
        </p:txBody>
      </p:sp>
      <p:sp>
        <p:nvSpPr>
          <p:cNvPr id="23" name="Text 21"/>
          <p:cNvSpPr/>
          <p:nvPr/>
        </p:nvSpPr>
        <p:spPr>
          <a:xfrm>
            <a:off x="6197600" y="2431312"/>
            <a:ext cx="495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No</a:t>
            </a:r>
            <a:endParaRPr lang="en-US" sz="1200" dirty="0"/>
          </a:p>
        </p:txBody>
      </p:sp>
      <p:sp>
        <p:nvSpPr>
          <p:cNvPr id="24" name="Shape 22"/>
          <p:cNvSpPr/>
          <p:nvPr/>
        </p:nvSpPr>
        <p:spPr>
          <a:xfrm>
            <a:off x="6794500" y="2449091"/>
            <a:ext cx="2933700" cy="177800"/>
          </a:xfrm>
          <a:prstGeom prst="roundRect">
            <a:avLst>
              <a:gd name="adj" fmla="val 14286"/>
            </a:avLst>
          </a:prstGeom>
          <a:solidFill>
            <a:srgbClr val="2458D3"/>
          </a:solidFill>
          <a:ln/>
        </p:spPr>
      </p:sp>
      <p:sp>
        <p:nvSpPr>
          <p:cNvPr id="25" name="Text 23"/>
          <p:cNvSpPr/>
          <p:nvPr/>
        </p:nvSpPr>
        <p:spPr>
          <a:xfrm>
            <a:off x="9829800" y="2431312"/>
            <a:ext cx="2808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7.7</a:t>
            </a:r>
            <a:endParaRPr lang="en-US" sz="1200" dirty="0"/>
          </a:p>
        </p:txBody>
      </p:sp>
      <p:sp>
        <p:nvSpPr>
          <p:cNvPr id="26" name="Text 24"/>
          <p:cNvSpPr/>
          <p:nvPr/>
        </p:nvSpPr>
        <p:spPr>
          <a:xfrm>
            <a:off x="6248400" y="273357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558"/>
                </a:solidFill>
                <a:latin typeface="IBM Plex Sans" pitchFamily="34" charset="0"/>
                <a:ea typeface="IBM Plex Sans" pitchFamily="34" charset="-122"/>
                <a:cs typeface="IBM Plex Sans" pitchFamily="34" charset="-120"/>
              </a:rPr>
              <a:t>Phone lock experienced</a:t>
            </a:r>
            <a:endParaRPr lang="en-US" sz="1200" dirty="0"/>
          </a:p>
        </p:txBody>
      </p:sp>
      <p:sp>
        <p:nvSpPr>
          <p:cNvPr id="27" name="Text 25"/>
          <p:cNvSpPr/>
          <p:nvPr/>
        </p:nvSpPr>
        <p:spPr>
          <a:xfrm>
            <a:off x="6197600" y="3035827"/>
            <a:ext cx="495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Yes</a:t>
            </a:r>
            <a:endParaRPr lang="en-US" sz="1200" dirty="0"/>
          </a:p>
        </p:txBody>
      </p:sp>
      <p:sp>
        <p:nvSpPr>
          <p:cNvPr id="28" name="Shape 26"/>
          <p:cNvSpPr/>
          <p:nvPr/>
        </p:nvSpPr>
        <p:spPr>
          <a:xfrm>
            <a:off x="6794500" y="3053612"/>
            <a:ext cx="2171700" cy="177800"/>
          </a:xfrm>
          <a:prstGeom prst="roundRect">
            <a:avLst>
              <a:gd name="adj" fmla="val 14286"/>
            </a:avLst>
          </a:prstGeom>
          <a:solidFill>
            <a:srgbClr val="D9621E"/>
          </a:solidFill>
          <a:ln/>
        </p:spPr>
      </p:sp>
      <p:sp>
        <p:nvSpPr>
          <p:cNvPr id="29" name="Text 27"/>
          <p:cNvSpPr/>
          <p:nvPr/>
        </p:nvSpPr>
        <p:spPr>
          <a:xfrm>
            <a:off x="9067800" y="3035827"/>
            <a:ext cx="2808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5.7</a:t>
            </a:r>
            <a:endParaRPr lang="en-US" sz="1200" dirty="0"/>
          </a:p>
        </p:txBody>
      </p:sp>
      <p:sp>
        <p:nvSpPr>
          <p:cNvPr id="30" name="Text 28"/>
          <p:cNvSpPr/>
          <p:nvPr/>
        </p:nvSpPr>
        <p:spPr>
          <a:xfrm>
            <a:off x="6197600" y="3338091"/>
            <a:ext cx="495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No</a:t>
            </a:r>
            <a:endParaRPr lang="en-US" sz="1200" dirty="0"/>
          </a:p>
        </p:txBody>
      </p:sp>
      <p:sp>
        <p:nvSpPr>
          <p:cNvPr id="31" name="Shape 29"/>
          <p:cNvSpPr/>
          <p:nvPr/>
        </p:nvSpPr>
        <p:spPr>
          <a:xfrm>
            <a:off x="6794500" y="3355870"/>
            <a:ext cx="2705100" cy="177800"/>
          </a:xfrm>
          <a:prstGeom prst="roundRect">
            <a:avLst>
              <a:gd name="adj" fmla="val 14286"/>
            </a:avLst>
          </a:prstGeom>
          <a:solidFill>
            <a:srgbClr val="2458D3"/>
          </a:solidFill>
          <a:ln/>
        </p:spPr>
      </p:sp>
      <p:sp>
        <p:nvSpPr>
          <p:cNvPr id="32" name="Text 30"/>
          <p:cNvSpPr/>
          <p:nvPr/>
        </p:nvSpPr>
        <p:spPr>
          <a:xfrm>
            <a:off x="9601200" y="3338091"/>
            <a:ext cx="2808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7.1</a:t>
            </a:r>
            <a:endParaRPr lang="en-US" sz="1200" dirty="0"/>
          </a:p>
        </p:txBody>
      </p:sp>
      <p:sp>
        <p:nvSpPr>
          <p:cNvPr id="33" name="Text 31"/>
          <p:cNvSpPr/>
          <p:nvPr/>
        </p:nvSpPr>
        <p:spPr>
          <a:xfrm>
            <a:off x="6248400" y="3640348"/>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558"/>
                </a:solidFill>
                <a:latin typeface="IBM Plex Sans" pitchFamily="34" charset="0"/>
                <a:ea typeface="IBM Plex Sans" pitchFamily="34" charset="-122"/>
                <a:cs typeface="IBM Plex Sans" pitchFamily="34" charset="-120"/>
              </a:rPr>
              <a:t>Payment delay experienced</a:t>
            </a:r>
            <a:endParaRPr lang="en-US" sz="1200" dirty="0"/>
          </a:p>
        </p:txBody>
      </p:sp>
      <p:sp>
        <p:nvSpPr>
          <p:cNvPr id="34" name="Text 32"/>
          <p:cNvSpPr/>
          <p:nvPr/>
        </p:nvSpPr>
        <p:spPr>
          <a:xfrm>
            <a:off x="6197600" y="3942612"/>
            <a:ext cx="495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Yes</a:t>
            </a:r>
            <a:endParaRPr lang="en-US" sz="1200" dirty="0"/>
          </a:p>
        </p:txBody>
      </p:sp>
      <p:sp>
        <p:nvSpPr>
          <p:cNvPr id="35" name="Shape 33"/>
          <p:cNvSpPr/>
          <p:nvPr/>
        </p:nvSpPr>
        <p:spPr>
          <a:xfrm>
            <a:off x="6794500" y="3960391"/>
            <a:ext cx="2209800" cy="177800"/>
          </a:xfrm>
          <a:prstGeom prst="roundRect">
            <a:avLst>
              <a:gd name="adj" fmla="val 14286"/>
            </a:avLst>
          </a:prstGeom>
          <a:solidFill>
            <a:srgbClr val="D9621E"/>
          </a:solidFill>
          <a:ln/>
        </p:spPr>
      </p:sp>
      <p:sp>
        <p:nvSpPr>
          <p:cNvPr id="36" name="Text 34"/>
          <p:cNvSpPr/>
          <p:nvPr/>
        </p:nvSpPr>
        <p:spPr>
          <a:xfrm>
            <a:off x="9105900" y="3942612"/>
            <a:ext cx="2808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5.8</a:t>
            </a:r>
            <a:endParaRPr lang="en-US" sz="1200" dirty="0"/>
          </a:p>
        </p:txBody>
      </p:sp>
      <p:sp>
        <p:nvSpPr>
          <p:cNvPr id="37" name="Text 35"/>
          <p:cNvSpPr/>
          <p:nvPr/>
        </p:nvSpPr>
        <p:spPr>
          <a:xfrm>
            <a:off x="6197600" y="4244870"/>
            <a:ext cx="495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558"/>
                </a:solidFill>
                <a:latin typeface="IBM Plex Sans" pitchFamily="34" charset="0"/>
                <a:ea typeface="IBM Plex Sans" pitchFamily="34" charset="-122"/>
                <a:cs typeface="IBM Plex Sans" pitchFamily="34" charset="-120"/>
              </a:rPr>
              <a:t>No</a:t>
            </a:r>
            <a:endParaRPr lang="en-US" sz="1200" dirty="0"/>
          </a:p>
        </p:txBody>
      </p:sp>
      <p:sp>
        <p:nvSpPr>
          <p:cNvPr id="38" name="Shape 36"/>
          <p:cNvSpPr/>
          <p:nvPr/>
        </p:nvSpPr>
        <p:spPr>
          <a:xfrm>
            <a:off x="6794500" y="4262648"/>
            <a:ext cx="2705100" cy="177800"/>
          </a:xfrm>
          <a:prstGeom prst="roundRect">
            <a:avLst>
              <a:gd name="adj" fmla="val 14286"/>
            </a:avLst>
          </a:prstGeom>
          <a:solidFill>
            <a:srgbClr val="2458D3"/>
          </a:solidFill>
          <a:ln/>
        </p:spPr>
      </p:sp>
      <p:sp>
        <p:nvSpPr>
          <p:cNvPr id="39" name="Text 37"/>
          <p:cNvSpPr/>
          <p:nvPr/>
        </p:nvSpPr>
        <p:spPr>
          <a:xfrm>
            <a:off x="9601200" y="4244870"/>
            <a:ext cx="2808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7.1</a:t>
            </a:r>
            <a:endParaRPr lang="en-US" sz="1200" dirty="0"/>
          </a:p>
        </p:txBody>
      </p:sp>
      <p:sp>
        <p:nvSpPr>
          <p:cNvPr id="40" name="Shape 38"/>
          <p:cNvSpPr/>
          <p:nvPr/>
        </p:nvSpPr>
        <p:spPr>
          <a:xfrm>
            <a:off x="812800" y="4641428"/>
            <a:ext cx="10566400" cy="1606973"/>
          </a:xfrm>
          <a:prstGeom prst="roundRect">
            <a:avLst>
              <a:gd name="adj" fmla="val 6322"/>
            </a:avLst>
          </a:prstGeom>
          <a:solidFill>
            <a:srgbClr val="14213D"/>
          </a:solidFill>
          <a:ln/>
        </p:spPr>
      </p:sp>
      <p:sp>
        <p:nvSpPr>
          <p:cNvPr id="41" name="Text 39"/>
          <p:cNvSpPr/>
          <p:nvPr/>
        </p:nvSpPr>
        <p:spPr>
          <a:xfrm>
            <a:off x="1016000" y="4819228"/>
            <a:ext cx="10464800" cy="237173"/>
          </a:xfrm>
          <a:prstGeom prst="rect">
            <a:avLst/>
          </a:prstGeom>
          <a:noFill/>
          <a:ln/>
        </p:spPr>
        <p:txBody>
          <a:bodyPr wrap="square" lIns="0" tIns="0" rIns="0" bIns="0" rtlCol="0" anchor="t">
            <a:normAutofit/>
          </a:bodyPr>
          <a:lstStyle/>
          <a:p>
            <a:pPr algn="l" indent="0" marL="0">
              <a:lnSpc>
                <a:spcPts val="1670"/>
              </a:lnSpc>
              <a:buNone/>
            </a:pPr>
            <a:r>
              <a:rPr lang="en-US" sz="1193" b="1" spc="100" kern="0" dirty="0">
                <a:solidFill>
                  <a:srgbClr val="F0A35E"/>
                </a:solidFill>
                <a:latin typeface="IBM Plex Sans" pitchFamily="34" charset="0"/>
                <a:ea typeface="IBM Plex Sans" pitchFamily="34" charset="-122"/>
                <a:cs typeface="IBM Plex Sans" pitchFamily="34" charset="-120"/>
              </a:rPr>
              <a:t>RECOMMENDATION</a:t>
            </a:r>
            <a:endParaRPr lang="en-US" sz="1193" dirty="0"/>
          </a:p>
        </p:txBody>
      </p:sp>
      <p:sp>
        <p:nvSpPr>
          <p:cNvPr id="42" name="Text 40"/>
          <p:cNvSpPr/>
          <p:nvPr/>
        </p:nvSpPr>
        <p:spPr>
          <a:xfrm>
            <a:off x="1016000" y="5094498"/>
            <a:ext cx="10464800" cy="529590"/>
          </a:xfrm>
          <a:prstGeom prst="rect">
            <a:avLst/>
          </a:prstGeom>
          <a:noFill/>
          <a:ln/>
        </p:spPr>
        <p:txBody>
          <a:bodyPr wrap="square" lIns="0" tIns="0" rIns="0" bIns="0" rtlCol="0" anchor="t">
            <a:normAutofit/>
          </a:bodyPr>
          <a:lstStyle/>
          <a:p>
            <a:pPr algn="l" indent="0" marL="0">
              <a:lnSpc>
                <a:spcPts val="1981"/>
              </a:lnSpc>
              <a:buNone/>
            </a:pPr>
            <a:r>
              <a:rPr lang="en-US" sz="1585" b="1" dirty="0">
                <a:solidFill>
                  <a:srgbClr val="EDEBE4"/>
                </a:solidFill>
                <a:latin typeface="IBM Plex Sans" pitchFamily="34" charset="0"/>
                <a:ea typeface="IBM Plex Sans" pitchFamily="34" charset="-122"/>
                <a:cs typeface="IBM Plex Sans" pitchFamily="34" charset="-120"/>
              </a:rPr>
              <a:t>Contact customers in the first 7 days of arrears, make customer care easy to reach, and offer a simple payment plan. Test it against a control group.</a:t>
            </a:r>
            <a:endParaRPr lang="en-US" sz="1585" dirty="0"/>
          </a:p>
        </p:txBody>
      </p:sp>
      <p:sp>
        <p:nvSpPr>
          <p:cNvPr id="43" name="Text 41"/>
          <p:cNvSpPr/>
          <p:nvPr/>
        </p:nvSpPr>
        <p:spPr>
          <a:xfrm>
            <a:off x="1016000" y="5662191"/>
            <a:ext cx="10464800" cy="433811"/>
          </a:xfrm>
          <a:prstGeom prst="rect">
            <a:avLst/>
          </a:prstGeom>
          <a:noFill/>
          <a:ln/>
        </p:spPr>
        <p:txBody>
          <a:bodyPr wrap="square" lIns="0" tIns="0" rIns="0" bIns="0" rtlCol="0" anchor="t">
            <a:normAutofit/>
          </a:bodyPr>
          <a:lstStyle/>
          <a:p>
            <a:pPr algn="l" indent="0" marL="0">
              <a:lnSpc>
                <a:spcPts val="1610"/>
              </a:lnSpc>
              <a:buNone/>
            </a:pPr>
            <a:r>
              <a:rPr lang="en-US" sz="1193" dirty="0">
                <a:solidFill>
                  <a:srgbClr val="B9C3D8"/>
                </a:solidFill>
                <a:latin typeface="IBM Plex Sans" pitchFamily="34" charset="0"/>
                <a:ea typeface="IBM Plex Sans" pitchFamily="34" charset="-122"/>
                <a:cs typeface="IBM Plex Sans" pitchFamily="34" charset="-120"/>
              </a:rPr>
              <a:t>Collections and satisfaction are in tension: customers who experienced a phone lock score 5.7 against 7.1. Trouble getting help rises from 32% when up to date to 45% at 1-7 days late.</a:t>
            </a:r>
            <a:endParaRPr lang="en-US" sz="119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0F"/>
                </a:solidFill>
                <a:latin typeface="IBM Plex Sans" pitchFamily="34" charset="0"/>
                <a:ea typeface="IBM Plex Sans" pitchFamily="34" charset="-122"/>
                <a:cs typeface="IBM Plex Sans" pitchFamily="34" charset="-120"/>
              </a:rPr>
              <a:t>PART 3C · DATA GAPS AND NEXT STEPS</a:t>
            </a:r>
            <a:endParaRPr lang="en-US" sz="1200" dirty="0"/>
          </a:p>
        </p:txBody>
      </p:sp>
      <p:sp>
        <p:nvSpPr>
          <p:cNvPr id="3" name="Text 1"/>
          <p:cNvSpPr/>
          <p:nvPr>
            <p:ph type="title"/>
          </p:nvPr>
        </p:nvSpPr>
        <p:spPr>
          <a:xfrm>
            <a:off x="812800" y="8991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IBM Plex Sans" pitchFamily="34" charset="0"/>
                <a:ea typeface="IBM Plex Sans" pitchFamily="34" charset="-122"/>
                <a:cs typeface="IBM Plex Sans" pitchFamily="34" charset="-120"/>
              </a:rPr>
              <a:t>What the data lacks, and what to improve first</a:t>
            </a:r>
            <a:endParaRPr lang="en-US" sz="2800" dirty="0"/>
          </a:p>
        </p:txBody>
      </p:sp>
      <p:sp>
        <p:nvSpPr>
          <p:cNvPr id="4" name="Shape 2"/>
          <p:cNvSpPr/>
          <p:nvPr/>
        </p:nvSpPr>
        <p:spPr>
          <a:xfrm>
            <a:off x="815975" y="1522096"/>
            <a:ext cx="3383704" cy="2343150"/>
          </a:xfrm>
          <a:prstGeom prst="roundRect">
            <a:avLst>
              <a:gd name="adj" fmla="val 4201"/>
            </a:avLst>
          </a:prstGeom>
          <a:solidFill>
            <a:srgbClr val="FBFAF6"/>
          </a:solidFill>
          <a:ln w="6350">
            <a:solidFill>
              <a:srgbClr val="DDD9CE"/>
            </a:solidFill>
            <a:prstDash val="solid"/>
          </a:ln>
        </p:spPr>
      </p:sp>
      <p:sp>
        <p:nvSpPr>
          <p:cNvPr id="5" name="Text 3"/>
          <p:cNvSpPr/>
          <p:nvPr/>
        </p:nvSpPr>
        <p:spPr>
          <a:xfrm>
            <a:off x="995680" y="1701800"/>
            <a:ext cx="3115022"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What is missing</a:t>
            </a:r>
            <a:endParaRPr lang="en-US" sz="1600" dirty="0"/>
          </a:p>
        </p:txBody>
      </p:sp>
      <p:sp>
        <p:nvSpPr>
          <p:cNvPr id="6" name="Text 4"/>
          <p:cNvSpPr/>
          <p:nvPr/>
        </p:nvSpPr>
        <p:spPr>
          <a:xfrm>
            <a:off x="1094486" y="2024379"/>
            <a:ext cx="3008596" cy="168656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B4558"/>
                </a:solidFill>
                <a:latin typeface="IBM Plex Sans" pitchFamily="34" charset="0"/>
                <a:ea typeface="IBM Plex Sans" pitchFamily="34" charset="-122"/>
                <a:cs typeface="IBM Plex Sans" pitchFamily="34" charset="-120"/>
              </a:rPr>
              <a:t>A working Loan Id on the demographic sheets</a:t>
            </a:r>
            <a:endParaRPr lang="en-US" sz="1200" dirty="0"/>
          </a:p>
          <a:p>
            <a:pPr algn="l" marL="155194" indent="-155194">
              <a:lnSpc>
                <a:spcPts val="1620"/>
              </a:lnSpc>
              <a:buSzPct val="100000"/>
              <a:buChar char="•"/>
            </a:pPr>
            <a:r>
              <a:rPr lang="en-US" sz="1200" dirty="0">
                <a:solidFill>
                  <a:srgbClr val="3B4558"/>
                </a:solidFill>
                <a:latin typeface="IBM Plex Sans" pitchFamily="34" charset="0"/>
                <a:ea typeface="IBM Plex Sans" pitchFamily="34" charset="-122"/>
                <a:cs typeface="IBM Plex Sans" pitchFamily="34" charset="-120"/>
              </a:rPr>
              <a:t>A customer id, so one person’s loans cannot be linked</a:t>
            </a:r>
            <a:endParaRPr lang="en-US" sz="1200" dirty="0"/>
          </a:p>
          <a:p>
            <a:pPr algn="l" marL="155194" indent="-155194">
              <a:lnSpc>
                <a:spcPts val="1620"/>
              </a:lnSpc>
              <a:buSzPct val="100000"/>
              <a:buChar char="•"/>
            </a:pPr>
            <a:r>
              <a:rPr lang="en-US" sz="1200" dirty="0">
                <a:solidFill>
                  <a:srgbClr val="3B4558"/>
                </a:solidFill>
                <a:latin typeface="IBM Plex Sans" pitchFamily="34" charset="0"/>
                <a:ea typeface="IBM Plex Sans" pitchFamily="34" charset="-122"/>
                <a:cs typeface="IBM Plex Sans" pitchFamily="34" charset="-120"/>
              </a:rPr>
              <a:t>Employment type and location</a:t>
            </a:r>
            <a:endParaRPr lang="en-US" sz="1200" dirty="0"/>
          </a:p>
          <a:p>
            <a:pPr algn="l" marL="155194" indent="-155194">
              <a:lnSpc>
                <a:spcPts val="1620"/>
              </a:lnSpc>
              <a:buSzPct val="100000"/>
              <a:buChar char="•"/>
            </a:pPr>
            <a:r>
              <a:rPr lang="en-US" sz="1200" dirty="0">
                <a:solidFill>
                  <a:srgbClr val="3B4558"/>
                </a:solidFill>
                <a:latin typeface="IBM Plex Sans" pitchFamily="34" charset="0"/>
                <a:ea typeface="IBM Plex Sans" pitchFamily="34" charset="-122"/>
                <a:cs typeface="IBM Plex Sans" pitchFamily="34" charset="-120"/>
              </a:rPr>
              <a:t>Payment-level history</a:t>
            </a:r>
            <a:endParaRPr lang="en-US" sz="1200" dirty="0"/>
          </a:p>
          <a:p>
            <a:pPr algn="l" marL="155194" indent="-155194">
              <a:lnSpc>
                <a:spcPts val="1620"/>
              </a:lnSpc>
              <a:buSzPct val="100000"/>
              <a:buChar char="•"/>
            </a:pPr>
            <a:r>
              <a:rPr lang="en-US" sz="1200" dirty="0">
                <a:solidFill>
                  <a:srgbClr val="3B4558"/>
                </a:solidFill>
                <a:latin typeface="IBM Plex Sans" pitchFamily="34" charset="0"/>
                <a:ea typeface="IBM Plex Sans" pitchFamily="34" charset="-122"/>
                <a:cs typeface="IBM Plex Sans" pitchFamily="34" charset="-120"/>
              </a:rPr>
              <a:t>Write-off date and amount</a:t>
            </a:r>
            <a:endParaRPr lang="en-US" sz="1200" dirty="0"/>
          </a:p>
          <a:p>
            <a:pPr algn="l" marL="155194" indent="-155194">
              <a:lnSpc>
                <a:spcPts val="1620"/>
              </a:lnSpc>
              <a:buSzPct val="100000"/>
              <a:buChar char="•"/>
            </a:pPr>
            <a:r>
              <a:rPr lang="en-US" sz="1200" dirty="0">
                <a:solidFill>
                  <a:srgbClr val="3B4558"/>
                </a:solidFill>
                <a:latin typeface="IBM Plex Sans" pitchFamily="34" charset="0"/>
                <a:ea typeface="IBM Plex Sans" pitchFamily="34" charset="-122"/>
                <a:cs typeface="IBM Plex Sans" pitchFamily="34" charset="-120"/>
              </a:rPr>
              <a:t>A credit score</a:t>
            </a:r>
            <a:endParaRPr lang="en-US" sz="1200" dirty="0"/>
          </a:p>
        </p:txBody>
      </p:sp>
      <p:sp>
        <p:nvSpPr>
          <p:cNvPr id="7" name="Shape 5"/>
          <p:cNvSpPr/>
          <p:nvPr/>
        </p:nvSpPr>
        <p:spPr>
          <a:xfrm>
            <a:off x="4409229" y="1522096"/>
            <a:ext cx="3383704" cy="2343150"/>
          </a:xfrm>
          <a:prstGeom prst="roundRect">
            <a:avLst>
              <a:gd name="adj" fmla="val 4201"/>
            </a:avLst>
          </a:prstGeom>
          <a:solidFill>
            <a:srgbClr val="FBFAF6"/>
          </a:solidFill>
          <a:ln w="6350">
            <a:solidFill>
              <a:srgbClr val="DDD9CE"/>
            </a:solidFill>
            <a:prstDash val="solid"/>
          </a:ln>
        </p:spPr>
      </p:sp>
      <p:sp>
        <p:nvSpPr>
          <p:cNvPr id="8" name="Text 6"/>
          <p:cNvSpPr/>
          <p:nvPr/>
        </p:nvSpPr>
        <p:spPr>
          <a:xfrm>
            <a:off x="4588933" y="1701800"/>
            <a:ext cx="3115022"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What is inconsistent or unclear</a:t>
            </a:r>
            <a:endParaRPr lang="en-US" sz="1600" dirty="0"/>
          </a:p>
        </p:txBody>
      </p:sp>
      <p:sp>
        <p:nvSpPr>
          <p:cNvPr id="9" name="Text 7"/>
          <p:cNvSpPr/>
          <p:nvPr/>
        </p:nvSpPr>
        <p:spPr>
          <a:xfrm>
            <a:off x="4687739" y="2024379"/>
            <a:ext cx="3008596" cy="168656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B4558"/>
                </a:solidFill>
                <a:latin typeface="IBM Plex Sans" pitchFamily="34" charset="0"/>
                <a:ea typeface="IBM Plex Sans" pitchFamily="34" charset="-122"/>
                <a:cs typeface="IBM Plex Sans" pitchFamily="34" charset="-120"/>
              </a:rPr>
              <a:t>Mixed date formats and #N/A tokens</a:t>
            </a:r>
            <a:endParaRPr lang="en-US" sz="1200" dirty="0"/>
          </a:p>
          <a:p>
            <a:pPr algn="l" marL="155194" indent="-155194">
              <a:lnSpc>
                <a:spcPts val="1620"/>
              </a:lnSpc>
              <a:buSzPct val="100000"/>
              <a:buChar char="•"/>
            </a:pPr>
            <a:r>
              <a:rPr lang="en-US" sz="1200" dirty="0">
                <a:solidFill>
                  <a:srgbClr val="3B4558"/>
                </a:solidFill>
                <a:latin typeface="IBM Plex Sans" pitchFamily="34" charset="0"/>
                <a:ea typeface="IBM Plex Sans" pitchFamily="34" charset="-122"/>
                <a:cs typeface="IBM Plex Sans" pitchFamily="34" charset="-120"/>
              </a:rPr>
              <a:t>Last payment date stamped at extract time</a:t>
            </a:r>
            <a:endParaRPr lang="en-US" sz="1200" dirty="0"/>
          </a:p>
          <a:p>
            <a:pPr algn="l" marL="155194" indent="-155194">
              <a:lnSpc>
                <a:spcPts val="1620"/>
              </a:lnSpc>
              <a:buSzPct val="100000"/>
              <a:buChar char="•"/>
            </a:pPr>
            <a:r>
              <a:rPr lang="en-US" sz="1200" dirty="0">
                <a:solidFill>
                  <a:srgbClr val="3B4558"/>
                </a:solidFill>
                <a:latin typeface="IBM Plex Sans" pitchFamily="34" charset="0"/>
                <a:ea typeface="IBM Plex Sans" pitchFamily="34" charset="-122"/>
                <a:cs typeface="IBM Plex Sans" pitchFamily="34" charset="-120"/>
              </a:rPr>
              <a:t>Write Off means 91+ days past due</a:t>
            </a:r>
            <a:endParaRPr lang="en-US" sz="1200" dirty="0"/>
          </a:p>
          <a:p>
            <a:pPr algn="l" marL="155194" indent="-155194">
              <a:lnSpc>
                <a:spcPts val="1620"/>
              </a:lnSpc>
              <a:buSzPct val="100000"/>
              <a:buChar char="•"/>
            </a:pPr>
            <a:r>
              <a:rPr lang="en-US" sz="1200" dirty="0">
                <a:solidFill>
                  <a:srgbClr val="3B4558"/>
                </a:solidFill>
                <a:latin typeface="IBM Plex Sans" pitchFamily="34" charset="0"/>
                <a:ea typeface="IBM Plex Sans" pitchFamily="34" charset="-122"/>
                <a:cs typeface="IBM Plex Sans" pitchFamily="34" charset="-120"/>
              </a:rPr>
              <a:t>PAR 30 mostly holds write-offs</a:t>
            </a:r>
            <a:endParaRPr lang="en-US" sz="1200" dirty="0"/>
          </a:p>
          <a:p>
            <a:pPr algn="l" marL="155194" indent="-155194">
              <a:lnSpc>
                <a:spcPts val="1620"/>
              </a:lnSpc>
              <a:buSzPct val="100000"/>
              <a:buChar char="•"/>
            </a:pPr>
            <a:r>
              <a:rPr lang="en-US" sz="1200" dirty="0">
                <a:solidFill>
                  <a:srgbClr val="3B4558"/>
                </a:solidFill>
                <a:latin typeface="IBM Plex Sans" pitchFamily="34" charset="0"/>
                <a:ea typeface="IBM Plex Sans" pitchFamily="34" charset="-122"/>
                <a:cs typeface="IBM Plex Sans" pitchFamily="34" charset="-120"/>
              </a:rPr>
              <a:t>What Duration means (a statement window)</a:t>
            </a:r>
            <a:endParaRPr lang="en-US" sz="1200" dirty="0"/>
          </a:p>
          <a:p>
            <a:pPr algn="l" marL="155194" indent="-155194">
              <a:lnSpc>
                <a:spcPts val="1620"/>
              </a:lnSpc>
              <a:buSzPct val="100000"/>
              <a:buChar char="•"/>
            </a:pPr>
            <a:r>
              <a:rPr lang="en-US" sz="1200" dirty="0">
                <a:solidFill>
                  <a:srgbClr val="3B4558"/>
                </a:solidFill>
                <a:latin typeface="IBM Plex Sans" pitchFamily="34" charset="0"/>
                <a:ea typeface="IBM Plex Sans" pitchFamily="34" charset="-122"/>
                <a:cs typeface="IBM Plex Sans" pitchFamily="34" charset="-120"/>
              </a:rPr>
              <a:t>Loan terms such as STDHIGH</a:t>
            </a:r>
            <a:endParaRPr lang="en-US" sz="1200" dirty="0"/>
          </a:p>
        </p:txBody>
      </p:sp>
      <p:sp>
        <p:nvSpPr>
          <p:cNvPr id="10" name="Shape 8"/>
          <p:cNvSpPr/>
          <p:nvPr/>
        </p:nvSpPr>
        <p:spPr>
          <a:xfrm>
            <a:off x="7999307" y="1518921"/>
            <a:ext cx="3379893" cy="2349500"/>
          </a:xfrm>
          <a:prstGeom prst="roundRect">
            <a:avLst>
              <a:gd name="adj" fmla="val 4324"/>
            </a:avLst>
          </a:prstGeom>
          <a:solidFill>
            <a:srgbClr val="E4EBFA"/>
          </a:solidFill>
          <a:ln/>
        </p:spPr>
      </p:sp>
      <p:sp>
        <p:nvSpPr>
          <p:cNvPr id="11" name="Shape 9"/>
          <p:cNvSpPr/>
          <p:nvPr/>
        </p:nvSpPr>
        <p:spPr>
          <a:xfrm>
            <a:off x="7999307" y="1518921"/>
            <a:ext cx="3379893" cy="2349500"/>
          </a:xfrm>
          <a:custGeom>
            <a:avLst/>
            <a:gdLst/>
            <a:ahLst/>
            <a:cxnLst/>
            <a:rect l="l" t="t" r="r" b="b"/>
            <a:pathLst>
              <a:path w="3379893" h="2349500">
                <a:moveTo>
                  <a:pt x="0" y="101600"/>
                </a:moveTo>
                <a:lnTo>
                  <a:pt x="0" y="101600"/>
                </a:lnTo>
                <a:arcTo hR="101600" wR="101600" stAng="10800000" swAng="5400000"/>
                <a:lnTo>
                  <a:pt x="3278293" y="0"/>
                </a:lnTo>
                <a:arcTo hR="101600" wR="101600" stAng="16200000" swAng="5400000"/>
                <a:lnTo>
                  <a:pt x="3379893" y="101600"/>
                </a:lnTo>
                <a:arcTo hR="63500" wR="101600" stAng="0" swAng="-5400000"/>
                <a:lnTo>
                  <a:pt x="101600" y="38100"/>
                </a:lnTo>
                <a:arcTo hR="63500" wR="101600" stAng="16200000" swAng="-5400000"/>
                <a:close/>
              </a:path>
            </a:pathLst>
          </a:custGeom>
          <a:solidFill>
            <a:srgbClr val="2458D3"/>
          </a:solidFill>
          <a:ln/>
        </p:spPr>
      </p:sp>
      <p:sp>
        <p:nvSpPr>
          <p:cNvPr id="12" name="Text 10"/>
          <p:cNvSpPr/>
          <p:nvPr/>
        </p:nvSpPr>
        <p:spPr>
          <a:xfrm>
            <a:off x="8177107" y="1732279"/>
            <a:ext cx="3115022"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Three improvements</a:t>
            </a:r>
            <a:endParaRPr lang="en-US" sz="1600" dirty="0"/>
          </a:p>
        </p:txBody>
      </p:sp>
      <p:sp>
        <p:nvSpPr>
          <p:cNvPr id="13" name="Text 11"/>
          <p:cNvSpPr/>
          <p:nvPr/>
        </p:nvSpPr>
        <p:spPr>
          <a:xfrm>
            <a:off x="8262197" y="2054858"/>
            <a:ext cx="3022312" cy="1259840"/>
          </a:xfrm>
          <a:prstGeom prst="rect">
            <a:avLst/>
          </a:prstGeom>
          <a:noFill/>
          <a:ln/>
        </p:spPr>
        <p:txBody>
          <a:bodyPr wrap="square" lIns="0" tIns="0" rIns="0" bIns="0" rtlCol="0" anchor="t">
            <a:normAutofit/>
          </a:bodyPr>
          <a:lstStyle/>
          <a:p>
            <a:pPr algn="l" marL="168910" indent="-168910">
              <a:lnSpc>
                <a:spcPts val="1620"/>
              </a:lnSpc>
              <a:buSzPct val="100000"/>
              <a:buFontTx/>
              <a:buAutoNum type="arabicPeriod" startAt="1"/>
            </a:pPr>
            <a:r>
              <a:rPr lang="en-US" sz="1200" b="1" dirty="0">
                <a:solidFill>
                  <a:srgbClr val="3B4558"/>
                </a:solidFill>
                <a:latin typeface="IBM Plex Sans" pitchFamily="34" charset="0"/>
                <a:ea typeface="IBM Plex Sans" pitchFamily="34" charset="-122"/>
                <a:cs typeface="IBM Plex Sans" pitchFamily="34" charset="-120"/>
              </a:rPr>
              <a:t>Stable keys.</a:t>
            </a:r>
            <a:r>
              <a:rPr lang="en-US" sz="1200" dirty="0">
                <a:solidFill>
                  <a:srgbClr val="3B4558"/>
                </a:solidFill>
                <a:latin typeface="IBM Plex Sans" pitchFamily="34" charset="0"/>
                <a:ea typeface="IBM Plex Sans" pitchFamily="34" charset="-122"/>
                <a:cs typeface="IBM Plex Sans" pitchFamily="34" charset="-120"/>
              </a:rPr>
              <a:t> One customer id and one loan id, in every file.</a:t>
            </a:r>
            <a:endParaRPr lang="en-US" sz="1200" dirty="0"/>
          </a:p>
          <a:p>
            <a:pPr algn="l" marL="168910" indent="-168910">
              <a:lnSpc>
                <a:spcPts val="1620"/>
              </a:lnSpc>
              <a:buSzPct val="100000"/>
              <a:buFontTx/>
              <a:buAutoNum type="arabicPeriod" startAt="1"/>
            </a:pPr>
            <a:r>
              <a:rPr lang="en-US" sz="1200" b="1" dirty="0">
                <a:solidFill>
                  <a:srgbClr val="3B4558"/>
                </a:solidFill>
                <a:latin typeface="IBM Plex Sans" pitchFamily="34" charset="0"/>
                <a:ea typeface="IBM Plex Sans" pitchFamily="34" charset="-122"/>
                <a:cs typeface="IBM Plex Sans" pitchFamily="34" charset="-120"/>
              </a:rPr>
              <a:t>History with dates.</a:t>
            </a:r>
            <a:r>
              <a:rPr lang="en-US" sz="1200" dirty="0">
                <a:solidFill>
                  <a:srgbClr val="3B4558"/>
                </a:solidFill>
                <a:latin typeface="IBM Plex Sans" pitchFamily="34" charset="0"/>
                <a:ea typeface="IBM Plex Sans" pitchFamily="34" charset="-122"/>
                <a:cs typeface="IBM Plex Sans" pitchFamily="34" charset="-120"/>
              </a:rPr>
              <a:t> Status and payments with effective dates.</a:t>
            </a:r>
            <a:endParaRPr lang="en-US" sz="1200" dirty="0"/>
          </a:p>
          <a:p>
            <a:pPr algn="l" marL="168910" indent="-168910">
              <a:lnSpc>
                <a:spcPts val="1620"/>
              </a:lnSpc>
              <a:buSzPct val="100000"/>
              <a:buFontTx/>
              <a:buAutoNum type="arabicPeriod" startAt="1"/>
            </a:pPr>
            <a:r>
              <a:rPr lang="en-US" sz="1200" b="1" dirty="0">
                <a:solidFill>
                  <a:srgbClr val="3B4558"/>
                </a:solidFill>
                <a:latin typeface="IBM Plex Sans" pitchFamily="34" charset="0"/>
                <a:ea typeface="IBM Plex Sans" pitchFamily="34" charset="-122"/>
                <a:cs typeface="IBM Plex Sans" pitchFamily="34" charset="-120"/>
              </a:rPr>
              <a:t>A data contract.</a:t>
            </a:r>
            <a:r>
              <a:rPr lang="en-US" sz="1200" dirty="0">
                <a:solidFill>
                  <a:srgbClr val="3B4558"/>
                </a:solidFill>
                <a:latin typeface="IBM Plex Sans" pitchFamily="34" charset="0"/>
                <a:ea typeface="IBM Plex Sans" pitchFamily="34" charset="-122"/>
                <a:cs typeface="IBM Plex Sans" pitchFamily="34" charset="-120"/>
              </a:rPr>
              <a:t> Validate each file at the source before delivery.</a:t>
            </a:r>
            <a:endParaRPr lang="en-US" sz="1200" dirty="0"/>
          </a:p>
        </p:txBody>
      </p:sp>
      <p:sp>
        <p:nvSpPr>
          <p:cNvPr id="14" name="Shape 12"/>
          <p:cNvSpPr/>
          <p:nvPr/>
        </p:nvSpPr>
        <p:spPr>
          <a:xfrm>
            <a:off x="812800" y="4097021"/>
            <a:ext cx="10566400" cy="1031240"/>
          </a:xfrm>
          <a:prstGeom prst="roundRect">
            <a:avLst>
              <a:gd name="adj" fmla="val 9852"/>
            </a:avLst>
          </a:prstGeom>
          <a:solidFill>
            <a:srgbClr val="14213D"/>
          </a:solidFill>
          <a:ln/>
        </p:spPr>
      </p:sp>
      <p:sp>
        <p:nvSpPr>
          <p:cNvPr id="15" name="Text 13"/>
          <p:cNvSpPr/>
          <p:nvPr/>
        </p:nvSpPr>
        <p:spPr>
          <a:xfrm>
            <a:off x="1016000" y="4249421"/>
            <a:ext cx="104648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5E"/>
                </a:solidFill>
                <a:latin typeface="IBM Plex Sans" pitchFamily="34" charset="0"/>
                <a:ea typeface="IBM Plex Sans" pitchFamily="34" charset="-122"/>
                <a:cs typeface="IBM Plex Sans" pitchFamily="34" charset="-120"/>
              </a:rPr>
              <a:t>NEXT: MACHINE LEARNING</a:t>
            </a:r>
            <a:endParaRPr lang="en-US" sz="1200" dirty="0"/>
          </a:p>
        </p:txBody>
      </p:sp>
      <p:sp>
        <p:nvSpPr>
          <p:cNvPr id="16" name="Text 14"/>
          <p:cNvSpPr/>
          <p:nvPr/>
        </p:nvSpPr>
        <p:spPr>
          <a:xfrm>
            <a:off x="1016000" y="4513579"/>
            <a:ext cx="104648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DEBE4"/>
                </a:solidFill>
                <a:latin typeface="IBM Plex Sans" pitchFamily="34" charset="0"/>
                <a:ea typeface="IBM Plex Sans" pitchFamily="34" charset="-122"/>
                <a:cs typeface="IBM Plex Sans" pitchFamily="34" charset="-120"/>
              </a:rPr>
              <a:t>Predict which loans reach 91+ days or Critical by the next snapshot, using features as at each snapshot only and a split by time. With only 4 snapshot transitions, results will be indicative.</a:t>
            </a:r>
            <a:endParaRPr lang="en-US" sz="1300" dirty="0"/>
          </a:p>
        </p:txBody>
      </p:sp>
    </p:spTree>
  </p:cSld>
  <p:clrMapOvr>
    <a:masterClrMapping/>
  </p:clrMapOvr>
</p:sld>
</file>

<file path=ppt/theme/theme1.xml><?xml version="1.0" encoding="utf-8"?>
<a:theme xmlns:a="http://schemas.openxmlformats.org/drawingml/2006/main" name="Annex DE Case Study">
  <a:themeElements>
    <a:clrScheme name="Annex DE Case Study">
      <a:dk1>
        <a:srgbClr val="14213D"/>
      </a:dk1>
      <a:lt1>
        <a:srgbClr val="F6F4EE"/>
      </a:lt1>
      <a:dk2>
        <a:srgbClr val="4D5669"/>
      </a:dk2>
      <a:lt2>
        <a:srgbClr val="DFDFDC"/>
      </a:lt2>
      <a:accent1>
        <a:srgbClr val="2458D3"/>
      </a:accent1>
      <a:accent2>
        <a:srgbClr val="B8460F"/>
      </a:accent2>
      <a:accent3>
        <a:srgbClr val="F0A35E"/>
      </a:accent3>
      <a:accent4>
        <a:srgbClr val="D9621E"/>
      </a:accent4>
      <a:accent5>
        <a:srgbClr val="9FABC6"/>
      </a:accent5>
      <a:accent6>
        <a:srgbClr val="3B4558"/>
      </a:accent6>
      <a:hlink>
        <a:srgbClr val="0563C1"/>
      </a:hlink>
      <a:folHlink>
        <a:srgbClr val="954F72"/>
      </a:folHlink>
    </a:clrScheme>
    <a:fontScheme name="Annex DE Case Study">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Annex DE Case Study</dc:title>
  <dc:subject/>
  <dc:creator/>
  <cp:lastModifiedBy/>
  <cp:revision>1</cp:revision>
  <dcterms:created xsi:type="dcterms:W3CDTF">2026-10-17T13:03:13Z</dcterms:created>
  <dcterms:modified xsi:type="dcterms:W3CDTF">2026-10-17T13:03:13Z</dcterms:modified>
</cp:coreProperties>
</file>